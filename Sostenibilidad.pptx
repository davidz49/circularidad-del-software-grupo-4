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ดองเต่า" charset="1" panose="00000000000000000000"/>
      <p:regular r:id="rId17"/>
    </p:embeddedFont>
    <p:embeddedFont>
      <p:font typeface="DM Sans Bold" charset="1" panose="000000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Relationship Id="rId4" Target="../media/image12.png" Type="http://schemas.openxmlformats.org/officeDocument/2006/relationships/image"/><Relationship Id="rId5" Target="../media/image1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png" Type="http://schemas.openxmlformats.org/officeDocument/2006/relationships/image"/><Relationship Id="rId11" Target="../media/image23.svg" Type="http://schemas.openxmlformats.org/officeDocument/2006/relationships/image"/><Relationship Id="rId12" Target="../media/image24.png" Type="http://schemas.openxmlformats.org/officeDocument/2006/relationships/image"/><Relationship Id="rId13" Target="../media/image25.svg" Type="http://schemas.openxmlformats.org/officeDocument/2006/relationships/image"/><Relationship Id="rId14" Target="../media/image26.png" Type="http://schemas.openxmlformats.org/officeDocument/2006/relationships/image"/><Relationship Id="rId15" Target="../media/image27.svg" Type="http://schemas.openxmlformats.org/officeDocument/2006/relationships/image"/><Relationship Id="rId16" Target="../media/image28.png" Type="http://schemas.openxmlformats.org/officeDocument/2006/relationships/image"/><Relationship Id="rId17" Target="../media/image29.svg" Type="http://schemas.openxmlformats.org/officeDocument/2006/relationships/image"/><Relationship Id="rId18" Target="../media/image30.png" Type="http://schemas.openxmlformats.org/officeDocument/2006/relationships/image"/><Relationship Id="rId19" Target="../media/image31.svg" Type="http://schemas.openxmlformats.org/officeDocument/2006/relationships/image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Relationship Id="rId6" Target="../media/image18.png" Type="http://schemas.openxmlformats.org/officeDocument/2006/relationships/image"/><Relationship Id="rId7" Target="../media/image19.svg" Type="http://schemas.openxmlformats.org/officeDocument/2006/relationships/image"/><Relationship Id="rId8" Target="../media/image20.png" Type="http://schemas.openxmlformats.org/officeDocument/2006/relationships/image"/><Relationship Id="rId9" Target="../media/image21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png" Type="http://schemas.openxmlformats.org/officeDocument/2006/relationships/image"/><Relationship Id="rId3" Target="../media/image33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4.png" Type="http://schemas.openxmlformats.org/officeDocument/2006/relationships/image"/><Relationship Id="rId3" Target="../media/image35.svg" Type="http://schemas.openxmlformats.org/officeDocument/2006/relationships/image"/><Relationship Id="rId4" Target="../media/image36.png" Type="http://schemas.openxmlformats.org/officeDocument/2006/relationships/image"/><Relationship Id="rId5" Target="../media/image37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8.png" Type="http://schemas.openxmlformats.org/officeDocument/2006/relationships/image"/><Relationship Id="rId3" Target="../media/image39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0.png" Type="http://schemas.openxmlformats.org/officeDocument/2006/relationships/image"/><Relationship Id="rId3" Target="../media/image41.svg" Type="http://schemas.openxmlformats.org/officeDocument/2006/relationships/image"/><Relationship Id="rId4" Target="../media/image42.png" Type="http://schemas.openxmlformats.org/officeDocument/2006/relationships/image"/><Relationship Id="rId5" Target="../media/image4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4.png" Type="http://schemas.openxmlformats.org/officeDocument/2006/relationships/image"/><Relationship Id="rId3" Target="../media/image45.svg" Type="http://schemas.openxmlformats.org/officeDocument/2006/relationships/image"/><Relationship Id="rId4" Target="../media/image46.png" Type="http://schemas.openxmlformats.org/officeDocument/2006/relationships/image"/><Relationship Id="rId5" Target="../media/image47.svg" Type="http://schemas.openxmlformats.org/officeDocument/2006/relationships/image"/><Relationship Id="rId6" Target="../media/image48.png" Type="http://schemas.openxmlformats.org/officeDocument/2006/relationships/image"/><Relationship Id="rId7" Target="../media/image49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81AD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89543" y="714519"/>
            <a:ext cx="14908914" cy="8543781"/>
            <a:chOff x="0" y="0"/>
            <a:chExt cx="19878552" cy="11391708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703249"/>
              <a:ext cx="19878552" cy="10688459"/>
              <a:chOff x="0" y="0"/>
              <a:chExt cx="3926628" cy="211130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3926628" cy="2111301"/>
              </a:xfrm>
              <a:custGeom>
                <a:avLst/>
                <a:gdLst/>
                <a:ahLst/>
                <a:cxnLst/>
                <a:rect r="r" b="b" t="t" l="l"/>
                <a:pathLst>
                  <a:path h="2111301" w="3926628">
                    <a:moveTo>
                      <a:pt x="16617" y="0"/>
                    </a:moveTo>
                    <a:lnTo>
                      <a:pt x="3910011" y="0"/>
                    </a:lnTo>
                    <a:cubicBezTo>
                      <a:pt x="3919188" y="0"/>
                      <a:pt x="3926628" y="7440"/>
                      <a:pt x="3926628" y="16617"/>
                    </a:cubicBezTo>
                    <a:lnTo>
                      <a:pt x="3926628" y="2094684"/>
                    </a:lnTo>
                    <a:cubicBezTo>
                      <a:pt x="3926628" y="2099091"/>
                      <a:pt x="3924877" y="2103317"/>
                      <a:pt x="3921761" y="2106434"/>
                    </a:cubicBezTo>
                    <a:cubicBezTo>
                      <a:pt x="3918645" y="2109550"/>
                      <a:pt x="3914418" y="2111301"/>
                      <a:pt x="3910011" y="2111301"/>
                    </a:cubicBezTo>
                    <a:lnTo>
                      <a:pt x="16617" y="2111301"/>
                    </a:lnTo>
                    <a:cubicBezTo>
                      <a:pt x="12210" y="2111301"/>
                      <a:pt x="7983" y="2109550"/>
                      <a:pt x="4867" y="2106434"/>
                    </a:cubicBezTo>
                    <a:cubicBezTo>
                      <a:pt x="1751" y="2103317"/>
                      <a:pt x="0" y="2099091"/>
                      <a:pt x="0" y="2094684"/>
                    </a:cubicBezTo>
                    <a:lnTo>
                      <a:pt x="0" y="16617"/>
                    </a:lnTo>
                    <a:cubicBezTo>
                      <a:pt x="0" y="12210"/>
                      <a:pt x="1751" y="7983"/>
                      <a:pt x="4867" y="4867"/>
                    </a:cubicBezTo>
                    <a:cubicBezTo>
                      <a:pt x="7983" y="1751"/>
                      <a:pt x="12210" y="0"/>
                      <a:pt x="16617" y="0"/>
                    </a:cubicBezTo>
                    <a:close/>
                  </a:path>
                </a:pathLst>
              </a:custGeom>
              <a:solidFill>
                <a:srgbClr val="F8FAED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3926628" cy="214940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6" id="6"/>
            <p:cNvSpPr/>
            <p:nvPr/>
          </p:nvSpPr>
          <p:spPr>
            <a:xfrm flipH="false" flipV="false" rot="5400000">
              <a:off x="283328" y="429314"/>
              <a:ext cx="1610129" cy="751501"/>
            </a:xfrm>
            <a:custGeom>
              <a:avLst/>
              <a:gdLst/>
              <a:ahLst/>
              <a:cxnLst/>
              <a:rect r="r" b="b" t="t" l="l"/>
              <a:pathLst>
                <a:path h="751501" w="1610129">
                  <a:moveTo>
                    <a:pt x="0" y="0"/>
                  </a:moveTo>
                  <a:lnTo>
                    <a:pt x="1610129" y="0"/>
                  </a:lnTo>
                  <a:lnTo>
                    <a:pt x="1610129" y="751501"/>
                  </a:lnTo>
                  <a:lnTo>
                    <a:pt x="0" y="7515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-160783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5400000">
              <a:off x="18147995" y="429314"/>
              <a:ext cx="1610129" cy="751501"/>
            </a:xfrm>
            <a:custGeom>
              <a:avLst/>
              <a:gdLst/>
              <a:ahLst/>
              <a:cxnLst/>
              <a:rect r="r" b="b" t="t" l="l"/>
              <a:pathLst>
                <a:path h="751501" w="1610129">
                  <a:moveTo>
                    <a:pt x="0" y="0"/>
                  </a:moveTo>
                  <a:lnTo>
                    <a:pt x="1610128" y="0"/>
                  </a:lnTo>
                  <a:lnTo>
                    <a:pt x="1610128" y="751501"/>
                  </a:lnTo>
                  <a:lnTo>
                    <a:pt x="0" y="7515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-160783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5400000">
              <a:off x="9215661" y="429314"/>
              <a:ext cx="1610129" cy="751501"/>
            </a:xfrm>
            <a:custGeom>
              <a:avLst/>
              <a:gdLst/>
              <a:ahLst/>
              <a:cxnLst/>
              <a:rect r="r" b="b" t="t" l="l"/>
              <a:pathLst>
                <a:path h="751501" w="1610129">
                  <a:moveTo>
                    <a:pt x="0" y="0"/>
                  </a:moveTo>
                  <a:lnTo>
                    <a:pt x="1610129" y="0"/>
                  </a:lnTo>
                  <a:lnTo>
                    <a:pt x="1610129" y="751501"/>
                  </a:lnTo>
                  <a:lnTo>
                    <a:pt x="0" y="7515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-160783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5400000">
              <a:off x="4749495" y="429314"/>
              <a:ext cx="1610129" cy="751501"/>
            </a:xfrm>
            <a:custGeom>
              <a:avLst/>
              <a:gdLst/>
              <a:ahLst/>
              <a:cxnLst/>
              <a:rect r="r" b="b" t="t" l="l"/>
              <a:pathLst>
                <a:path h="751501" w="1610129">
                  <a:moveTo>
                    <a:pt x="0" y="0"/>
                  </a:moveTo>
                  <a:lnTo>
                    <a:pt x="1610128" y="0"/>
                  </a:lnTo>
                  <a:lnTo>
                    <a:pt x="1610128" y="751501"/>
                  </a:lnTo>
                  <a:lnTo>
                    <a:pt x="0" y="7515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-160783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5400000">
              <a:off x="1772050" y="429314"/>
              <a:ext cx="1610129" cy="751501"/>
            </a:xfrm>
            <a:custGeom>
              <a:avLst/>
              <a:gdLst/>
              <a:ahLst/>
              <a:cxnLst/>
              <a:rect r="r" b="b" t="t" l="l"/>
              <a:pathLst>
                <a:path h="751501" w="1610129">
                  <a:moveTo>
                    <a:pt x="0" y="0"/>
                  </a:moveTo>
                  <a:lnTo>
                    <a:pt x="1610129" y="0"/>
                  </a:lnTo>
                  <a:lnTo>
                    <a:pt x="1610129" y="751501"/>
                  </a:lnTo>
                  <a:lnTo>
                    <a:pt x="0" y="7515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-160783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5400000">
              <a:off x="3260773" y="429314"/>
              <a:ext cx="1610129" cy="751501"/>
            </a:xfrm>
            <a:custGeom>
              <a:avLst/>
              <a:gdLst/>
              <a:ahLst/>
              <a:cxnLst/>
              <a:rect r="r" b="b" t="t" l="l"/>
              <a:pathLst>
                <a:path h="751501" w="1610129">
                  <a:moveTo>
                    <a:pt x="0" y="0"/>
                  </a:moveTo>
                  <a:lnTo>
                    <a:pt x="1610128" y="0"/>
                  </a:lnTo>
                  <a:lnTo>
                    <a:pt x="1610128" y="751501"/>
                  </a:lnTo>
                  <a:lnTo>
                    <a:pt x="0" y="7515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-1607830" r="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5400000">
              <a:off x="6238217" y="429314"/>
              <a:ext cx="1610129" cy="751501"/>
            </a:xfrm>
            <a:custGeom>
              <a:avLst/>
              <a:gdLst/>
              <a:ahLst/>
              <a:cxnLst/>
              <a:rect r="r" b="b" t="t" l="l"/>
              <a:pathLst>
                <a:path h="751501" w="1610129">
                  <a:moveTo>
                    <a:pt x="0" y="0"/>
                  </a:moveTo>
                  <a:lnTo>
                    <a:pt x="1610129" y="0"/>
                  </a:lnTo>
                  <a:lnTo>
                    <a:pt x="1610129" y="751501"/>
                  </a:lnTo>
                  <a:lnTo>
                    <a:pt x="0" y="7515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-160783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5400000">
              <a:off x="7726939" y="429314"/>
              <a:ext cx="1610129" cy="751501"/>
            </a:xfrm>
            <a:custGeom>
              <a:avLst/>
              <a:gdLst/>
              <a:ahLst/>
              <a:cxnLst/>
              <a:rect r="r" b="b" t="t" l="l"/>
              <a:pathLst>
                <a:path h="751501" w="1610129">
                  <a:moveTo>
                    <a:pt x="0" y="0"/>
                  </a:moveTo>
                  <a:lnTo>
                    <a:pt x="1610129" y="0"/>
                  </a:lnTo>
                  <a:lnTo>
                    <a:pt x="1610129" y="751501"/>
                  </a:lnTo>
                  <a:lnTo>
                    <a:pt x="0" y="7515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-160783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5400000">
              <a:off x="10704384" y="429314"/>
              <a:ext cx="1610129" cy="751501"/>
            </a:xfrm>
            <a:custGeom>
              <a:avLst/>
              <a:gdLst/>
              <a:ahLst/>
              <a:cxnLst/>
              <a:rect r="r" b="b" t="t" l="l"/>
              <a:pathLst>
                <a:path h="751501" w="1610129">
                  <a:moveTo>
                    <a:pt x="0" y="0"/>
                  </a:moveTo>
                  <a:lnTo>
                    <a:pt x="1610128" y="0"/>
                  </a:lnTo>
                  <a:lnTo>
                    <a:pt x="1610128" y="751501"/>
                  </a:lnTo>
                  <a:lnTo>
                    <a:pt x="0" y="7515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-160783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5400000">
              <a:off x="12193106" y="429314"/>
              <a:ext cx="1610129" cy="751501"/>
            </a:xfrm>
            <a:custGeom>
              <a:avLst/>
              <a:gdLst/>
              <a:ahLst/>
              <a:cxnLst/>
              <a:rect r="r" b="b" t="t" l="l"/>
              <a:pathLst>
                <a:path h="751501" w="1610129">
                  <a:moveTo>
                    <a:pt x="0" y="0"/>
                  </a:moveTo>
                  <a:lnTo>
                    <a:pt x="1610129" y="0"/>
                  </a:lnTo>
                  <a:lnTo>
                    <a:pt x="1610129" y="751501"/>
                  </a:lnTo>
                  <a:lnTo>
                    <a:pt x="0" y="7515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-160783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5400000">
              <a:off x="13681828" y="429314"/>
              <a:ext cx="1610129" cy="751501"/>
            </a:xfrm>
            <a:custGeom>
              <a:avLst/>
              <a:gdLst/>
              <a:ahLst/>
              <a:cxnLst/>
              <a:rect r="r" b="b" t="t" l="l"/>
              <a:pathLst>
                <a:path h="751501" w="1610129">
                  <a:moveTo>
                    <a:pt x="0" y="0"/>
                  </a:moveTo>
                  <a:lnTo>
                    <a:pt x="1610129" y="0"/>
                  </a:lnTo>
                  <a:lnTo>
                    <a:pt x="1610129" y="751501"/>
                  </a:lnTo>
                  <a:lnTo>
                    <a:pt x="0" y="7515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-160783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5400000">
              <a:off x="15170550" y="429314"/>
              <a:ext cx="1610129" cy="751501"/>
            </a:xfrm>
            <a:custGeom>
              <a:avLst/>
              <a:gdLst/>
              <a:ahLst/>
              <a:cxnLst/>
              <a:rect r="r" b="b" t="t" l="l"/>
              <a:pathLst>
                <a:path h="751501" w="1610129">
                  <a:moveTo>
                    <a:pt x="0" y="0"/>
                  </a:moveTo>
                  <a:lnTo>
                    <a:pt x="1610129" y="0"/>
                  </a:lnTo>
                  <a:lnTo>
                    <a:pt x="1610129" y="751501"/>
                  </a:lnTo>
                  <a:lnTo>
                    <a:pt x="0" y="7515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-1607830" r="0" b="0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false" flipV="false" rot="5400000">
              <a:off x="16659273" y="429314"/>
              <a:ext cx="1610129" cy="751501"/>
            </a:xfrm>
            <a:custGeom>
              <a:avLst/>
              <a:gdLst/>
              <a:ahLst/>
              <a:cxnLst/>
              <a:rect r="r" b="b" t="t" l="l"/>
              <a:pathLst>
                <a:path h="751501" w="1610129">
                  <a:moveTo>
                    <a:pt x="0" y="0"/>
                  </a:moveTo>
                  <a:lnTo>
                    <a:pt x="1610128" y="0"/>
                  </a:lnTo>
                  <a:lnTo>
                    <a:pt x="1610128" y="751501"/>
                  </a:lnTo>
                  <a:lnTo>
                    <a:pt x="0" y="7515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-1607830" r="0" b="0"/>
              </a:stretch>
            </a:blipFill>
          </p:spPr>
        </p:sp>
      </p:grpSp>
      <p:sp>
        <p:nvSpPr>
          <p:cNvPr name="Freeform 19" id="19"/>
          <p:cNvSpPr/>
          <p:nvPr/>
        </p:nvSpPr>
        <p:spPr>
          <a:xfrm flipH="false" flipV="false" rot="0">
            <a:off x="364918" y="6616418"/>
            <a:ext cx="3752966" cy="3288313"/>
          </a:xfrm>
          <a:custGeom>
            <a:avLst/>
            <a:gdLst/>
            <a:ahLst/>
            <a:cxnLst/>
            <a:rect r="r" b="b" t="t" l="l"/>
            <a:pathLst>
              <a:path h="3288313" w="3752966">
                <a:moveTo>
                  <a:pt x="0" y="0"/>
                </a:moveTo>
                <a:lnTo>
                  <a:pt x="3752966" y="0"/>
                </a:lnTo>
                <a:lnTo>
                  <a:pt x="3752966" y="3288312"/>
                </a:lnTo>
                <a:lnTo>
                  <a:pt x="0" y="32883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0" id="20"/>
          <p:cNvSpPr/>
          <p:nvPr/>
        </p:nvSpPr>
        <p:spPr>
          <a:xfrm flipH="false" flipV="false" rot="758024">
            <a:off x="15006044" y="6457575"/>
            <a:ext cx="2830518" cy="3258150"/>
          </a:xfrm>
          <a:custGeom>
            <a:avLst/>
            <a:gdLst/>
            <a:ahLst/>
            <a:cxnLst/>
            <a:rect r="r" b="b" t="t" l="l"/>
            <a:pathLst>
              <a:path h="3258150" w="2830518">
                <a:moveTo>
                  <a:pt x="0" y="0"/>
                </a:moveTo>
                <a:lnTo>
                  <a:pt x="2830518" y="0"/>
                </a:lnTo>
                <a:lnTo>
                  <a:pt x="2830518" y="3258150"/>
                </a:lnTo>
                <a:lnTo>
                  <a:pt x="0" y="32581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3260143" y="3340735"/>
            <a:ext cx="11767714" cy="3253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319"/>
              </a:lnSpc>
              <a:spcBef>
                <a:spcPct val="0"/>
              </a:spcBef>
            </a:pPr>
            <a:r>
              <a:rPr lang="en-US" sz="8799">
                <a:solidFill>
                  <a:srgbClr val="567B2B"/>
                </a:solidFill>
                <a:latin typeface="ดองเต่า"/>
                <a:ea typeface="ดองเต่า"/>
                <a:cs typeface="ดองเต่า"/>
                <a:sym typeface="ดองเต่า"/>
              </a:rPr>
              <a:t>ECONOMIA VERDE Y CIRCULAR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353740" y="7496100"/>
            <a:ext cx="11580519" cy="1737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</a:pPr>
            <a:r>
              <a:rPr lang="en-US" sz="3199" spc="-63">
                <a:solidFill>
                  <a:srgbClr val="A0BD6C"/>
                </a:solidFill>
                <a:latin typeface="ดองเต่า"/>
                <a:ea typeface="ดองเต่า"/>
                <a:cs typeface="ดองเต่า"/>
                <a:sym typeface="ดองเต่า"/>
              </a:rPr>
              <a:t>DAVID CORREA TEJERA</a:t>
            </a:r>
          </a:p>
          <a:p>
            <a:pPr algn="ctr">
              <a:lnSpc>
                <a:spcPts val="4479"/>
              </a:lnSpc>
            </a:pPr>
            <a:r>
              <a:rPr lang="en-US" sz="3199" spc="-63">
                <a:solidFill>
                  <a:srgbClr val="A0BD6C"/>
                </a:solidFill>
                <a:latin typeface="ดองเต่า"/>
                <a:ea typeface="ดองเต่า"/>
                <a:cs typeface="ดองเต่า"/>
                <a:sym typeface="ดองเต่า"/>
              </a:rPr>
              <a:t>ISMAEL BOTANA CASTRO</a:t>
            </a:r>
          </a:p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sz="3199" spc="-63">
                <a:solidFill>
                  <a:srgbClr val="A0BD6C"/>
                </a:solidFill>
                <a:latin typeface="ดองเต่า"/>
                <a:ea typeface="ดองเต่า"/>
                <a:cs typeface="ดองเต่า"/>
                <a:sym typeface="ดองเต่า"/>
              </a:rPr>
              <a:t>CHRISTHIAN AGUSTÍN PERDOMO CASANOVA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8FA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4695339"/>
            <a:ext cx="1361488" cy="1076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840"/>
              </a:lnSpc>
              <a:spcBef>
                <a:spcPct val="0"/>
              </a:spcBef>
            </a:pPr>
            <a:r>
              <a:rPr lang="en-US" sz="5600" strike="noStrike" u="none">
                <a:solidFill>
                  <a:srgbClr val="567B2B"/>
                </a:solidFill>
                <a:latin typeface="ดองเต่า"/>
                <a:ea typeface="ดองเต่า"/>
                <a:cs typeface="ดองเต่า"/>
                <a:sym typeface="ดองเต่า"/>
              </a:rPr>
              <a:t>02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036820" y="4778207"/>
            <a:ext cx="6093113" cy="949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4999">
                <a:solidFill>
                  <a:srgbClr val="000000"/>
                </a:solidFill>
                <a:latin typeface="ดองเต่า"/>
                <a:ea typeface="ดองเต่า"/>
                <a:cs typeface="ดองเต่า"/>
                <a:sym typeface="ดองเต่า"/>
              </a:rPr>
              <a:t>Modelo lineal y circular </a:t>
            </a:r>
            <a:r>
              <a:rPr lang="en-US" sz="4999">
                <a:solidFill>
                  <a:srgbClr val="FCC254"/>
                </a:solidFill>
                <a:latin typeface="ดองเต่า"/>
                <a:ea typeface="ดองเต่า"/>
                <a:cs typeface="ดองเต่า"/>
                <a:sym typeface="ดองเต่า"/>
              </a:rPr>
              <a:t>C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514555" y="638175"/>
            <a:ext cx="3566471" cy="1908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3999"/>
              </a:lnSpc>
              <a:spcBef>
                <a:spcPct val="0"/>
              </a:spcBef>
            </a:pPr>
            <a:r>
              <a:rPr lang="en-US" sz="9999" strike="noStrike" u="none">
                <a:solidFill>
                  <a:srgbClr val="567B2B"/>
                </a:solidFill>
                <a:latin typeface="ดองเต่า"/>
                <a:ea typeface="ดองเต่า"/>
                <a:cs typeface="ดองเต่า"/>
                <a:sym typeface="ดองเต่า"/>
              </a:rPr>
              <a:t>ÍNDICE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5991374"/>
            <a:ext cx="1361488" cy="1076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840"/>
              </a:lnSpc>
              <a:spcBef>
                <a:spcPct val="0"/>
              </a:spcBef>
            </a:pPr>
            <a:r>
              <a:rPr lang="en-US" sz="5600" strike="noStrike" u="none">
                <a:solidFill>
                  <a:srgbClr val="567B2B"/>
                </a:solidFill>
                <a:latin typeface="ดองเต่า"/>
                <a:ea typeface="ดองเต่า"/>
                <a:cs typeface="ดองเต่า"/>
                <a:sym typeface="ดองเต่า"/>
              </a:rPr>
              <a:t>03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036820" y="6074242"/>
            <a:ext cx="4088259" cy="949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4999">
                <a:solidFill>
                  <a:srgbClr val="000000"/>
                </a:solidFill>
                <a:latin typeface="ดองเต่า"/>
                <a:ea typeface="ดองเต่า"/>
                <a:cs typeface="ดองเต่า"/>
                <a:sym typeface="ดองเต่า"/>
              </a:rPr>
              <a:t>Las 7 acciones </a:t>
            </a:r>
            <a:r>
              <a:rPr lang="en-US" sz="4999">
                <a:solidFill>
                  <a:srgbClr val="FCC254"/>
                </a:solidFill>
                <a:latin typeface="ดองเต่า"/>
                <a:ea typeface="ดองเต่า"/>
                <a:cs typeface="ดองเต่า"/>
                <a:sym typeface="ดองเต่า"/>
              </a:rPr>
              <a:t>C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7287409"/>
            <a:ext cx="1361488" cy="1076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840"/>
              </a:lnSpc>
              <a:spcBef>
                <a:spcPct val="0"/>
              </a:spcBef>
            </a:pPr>
            <a:r>
              <a:rPr lang="en-US" sz="5600" strike="noStrike" u="none">
                <a:solidFill>
                  <a:srgbClr val="567B2B"/>
                </a:solidFill>
                <a:latin typeface="ดองเต่า"/>
                <a:ea typeface="ดองเต่า"/>
                <a:cs typeface="ดองเต่า"/>
                <a:sym typeface="ดองเต่า"/>
              </a:rPr>
              <a:t>04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036820" y="7370276"/>
            <a:ext cx="7260971" cy="949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4999">
                <a:solidFill>
                  <a:srgbClr val="000000"/>
                </a:solidFill>
                <a:latin typeface="ดองเต่า"/>
                <a:ea typeface="ดองเต่า"/>
                <a:cs typeface="ดองเต่า"/>
                <a:sym typeface="ดองเต่า"/>
              </a:rPr>
              <a:t>Consumismo y funcionalidad </a:t>
            </a:r>
            <a:r>
              <a:rPr lang="en-US" sz="4999">
                <a:solidFill>
                  <a:srgbClr val="FCC254"/>
                </a:solidFill>
                <a:latin typeface="ดองเต่า"/>
                <a:ea typeface="ดองเต่า"/>
                <a:cs typeface="ดองเต่า"/>
                <a:sym typeface="ดองเต่า"/>
              </a:rPr>
              <a:t>I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0162985" y="3627905"/>
            <a:ext cx="5423897" cy="848360"/>
            <a:chOff x="0" y="0"/>
            <a:chExt cx="7231863" cy="1131147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-228600"/>
              <a:ext cx="1815317" cy="13597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7840"/>
                </a:lnSpc>
                <a:spcBef>
                  <a:spcPct val="0"/>
                </a:spcBef>
              </a:pPr>
              <a:r>
                <a:rPr lang="en-US" sz="5600" strike="noStrike" u="none">
                  <a:solidFill>
                    <a:srgbClr val="567B2B"/>
                  </a:solidFill>
                  <a:latin typeface="ดองเต่า"/>
                  <a:ea typeface="ดองเต่า"/>
                  <a:cs typeface="ดองเต่า"/>
                  <a:sym typeface="ดองเต่า"/>
                </a:rPr>
                <a:t>05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1344159" y="-130811"/>
              <a:ext cx="5887703" cy="120226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99"/>
                </a:lnSpc>
              </a:pPr>
              <a:r>
                <a:rPr lang="en-US" sz="4999">
                  <a:solidFill>
                    <a:srgbClr val="000000"/>
                  </a:solidFill>
                  <a:latin typeface="ดองเต่า"/>
                  <a:ea typeface="ดองเต่า"/>
                  <a:cs typeface="ดองเต่า"/>
                  <a:sym typeface="ดองเต่า"/>
                </a:rPr>
                <a:t>Economia Verde </a:t>
              </a:r>
              <a:r>
                <a:rPr lang="en-US" sz="4999">
                  <a:solidFill>
                    <a:srgbClr val="FCC254"/>
                  </a:solidFill>
                  <a:latin typeface="ดองเต่า"/>
                  <a:ea typeface="ดองเต่า"/>
                  <a:cs typeface="ดองเต่า"/>
                  <a:sym typeface="ดองเต่า"/>
                </a:rPr>
                <a:t>D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009212" y="4923939"/>
            <a:ext cx="6719084" cy="848360"/>
            <a:chOff x="0" y="0"/>
            <a:chExt cx="8958778" cy="1131147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-228600"/>
              <a:ext cx="1815317" cy="13597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7840"/>
                </a:lnSpc>
                <a:spcBef>
                  <a:spcPct val="0"/>
                </a:spcBef>
              </a:pPr>
              <a:r>
                <a:rPr lang="en-US" sz="5600" strike="noStrike" u="none">
                  <a:solidFill>
                    <a:srgbClr val="567B2B"/>
                  </a:solidFill>
                  <a:latin typeface="ดองเต่า"/>
                  <a:ea typeface="ดองเต่า"/>
                  <a:cs typeface="ดองเต่า"/>
                  <a:sym typeface="ดองเต่า"/>
                </a:rPr>
                <a:t>06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1344159" y="-130811"/>
              <a:ext cx="7614619" cy="120226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99"/>
                </a:lnSpc>
              </a:pPr>
              <a:r>
                <a:rPr lang="en-US" sz="4999">
                  <a:solidFill>
                    <a:srgbClr val="000000"/>
                  </a:solidFill>
                  <a:latin typeface="ดองเต่า"/>
                  <a:ea typeface="ดองเต่า"/>
                  <a:cs typeface="ดองเต่า"/>
                  <a:sym typeface="ดองเต่า"/>
                </a:rPr>
                <a:t>Etapas de un producto </a:t>
              </a:r>
              <a:r>
                <a:rPr lang="en-US" sz="4999">
                  <a:solidFill>
                    <a:srgbClr val="FCC254"/>
                  </a:solidFill>
                  <a:latin typeface="ดองเต่า"/>
                  <a:ea typeface="ดองเต่า"/>
                  <a:cs typeface="ดองเต่า"/>
                  <a:sym typeface="ดองเต่า"/>
                </a:rPr>
                <a:t>I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028700" y="3399305"/>
            <a:ext cx="1361488" cy="1076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840"/>
              </a:lnSpc>
              <a:spcBef>
                <a:spcPct val="0"/>
              </a:spcBef>
            </a:pPr>
            <a:r>
              <a:rPr lang="en-US" sz="5600" strike="noStrike" u="none">
                <a:solidFill>
                  <a:srgbClr val="567B2B"/>
                </a:solidFill>
                <a:latin typeface="ดองเต่า"/>
                <a:ea typeface="ดองเต่า"/>
                <a:cs typeface="ดองเต่า"/>
                <a:sym typeface="ดองเต่า"/>
              </a:rPr>
              <a:t>01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036820" y="3482172"/>
            <a:ext cx="4088259" cy="949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4999">
                <a:solidFill>
                  <a:srgbClr val="000000"/>
                </a:solidFill>
                <a:latin typeface="ดองเต่า"/>
                <a:ea typeface="ดองเต่า"/>
                <a:cs typeface="ดองเต่า"/>
                <a:sym typeface="ดองเต่า"/>
              </a:rPr>
              <a:t>Introduccion </a:t>
            </a:r>
            <a:r>
              <a:rPr lang="en-US" sz="4999">
                <a:solidFill>
                  <a:srgbClr val="FCC254"/>
                </a:solidFill>
                <a:latin typeface="ดองเต่า"/>
                <a:ea typeface="ดองเต่า"/>
                <a:cs typeface="ดองเต่า"/>
                <a:sym typeface="ดองเต่า"/>
              </a:rPr>
              <a:t>D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0009212" y="6219974"/>
            <a:ext cx="7835624" cy="848360"/>
            <a:chOff x="0" y="0"/>
            <a:chExt cx="10447499" cy="1131147"/>
          </a:xfrm>
        </p:grpSpPr>
        <p:sp>
          <p:nvSpPr>
            <p:cNvPr name="TextBox 18" id="18"/>
            <p:cNvSpPr txBox="true"/>
            <p:nvPr/>
          </p:nvSpPr>
          <p:spPr>
            <a:xfrm rot="0">
              <a:off x="0" y="-228600"/>
              <a:ext cx="1815317" cy="13597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7840"/>
                </a:lnSpc>
                <a:spcBef>
                  <a:spcPct val="0"/>
                </a:spcBef>
              </a:pPr>
              <a:r>
                <a:rPr lang="en-US" sz="5600" strike="noStrike" u="none">
                  <a:solidFill>
                    <a:srgbClr val="567B2B"/>
                  </a:solidFill>
                  <a:latin typeface="ดองเต่า"/>
                  <a:ea typeface="ดองเต่า"/>
                  <a:cs typeface="ดองเต่า"/>
                  <a:sym typeface="ดองเต่า"/>
                </a:rPr>
                <a:t>07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1344159" y="-130811"/>
              <a:ext cx="9103339" cy="120226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99"/>
                </a:lnSpc>
              </a:pPr>
              <a:r>
                <a:rPr lang="en-US" sz="4999">
                  <a:solidFill>
                    <a:srgbClr val="000000"/>
                  </a:solidFill>
                  <a:latin typeface="ดองเต่า"/>
                  <a:ea typeface="ดองเต่า"/>
                  <a:cs typeface="ดองเต่า"/>
                  <a:sym typeface="ดองเต่า"/>
                </a:rPr>
                <a:t>Obsolescencia programada </a:t>
              </a:r>
              <a:r>
                <a:rPr lang="en-US" sz="4999">
                  <a:solidFill>
                    <a:srgbClr val="FCC254"/>
                  </a:solidFill>
                  <a:latin typeface="ดองเต่า"/>
                  <a:ea typeface="ดองเต่า"/>
                  <a:cs typeface="ดองเต่า"/>
                  <a:sym typeface="ดองเต่า"/>
                </a:rPr>
                <a:t>I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009212" y="7516009"/>
            <a:ext cx="5096379" cy="848360"/>
            <a:chOff x="0" y="0"/>
            <a:chExt cx="6795171" cy="1131147"/>
          </a:xfrm>
        </p:grpSpPr>
        <p:sp>
          <p:nvSpPr>
            <p:cNvPr name="TextBox 21" id="21"/>
            <p:cNvSpPr txBox="true"/>
            <p:nvPr/>
          </p:nvSpPr>
          <p:spPr>
            <a:xfrm rot="0">
              <a:off x="0" y="-228600"/>
              <a:ext cx="1815317" cy="13597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7840"/>
                </a:lnSpc>
                <a:spcBef>
                  <a:spcPct val="0"/>
                </a:spcBef>
              </a:pPr>
              <a:r>
                <a:rPr lang="en-US" sz="5600" strike="noStrike" u="none">
                  <a:solidFill>
                    <a:srgbClr val="567B2B"/>
                  </a:solidFill>
                  <a:latin typeface="ดองเต่า"/>
                  <a:ea typeface="ดองเต่า"/>
                  <a:cs typeface="ดองเต่า"/>
                  <a:sym typeface="ดองเต่า"/>
                </a:rPr>
                <a:t>08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1344159" y="-130811"/>
              <a:ext cx="5451012" cy="120226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99"/>
                </a:lnSpc>
              </a:pPr>
              <a:r>
                <a:rPr lang="en-US" sz="4999">
                  <a:solidFill>
                    <a:srgbClr val="000000"/>
                  </a:solidFill>
                  <a:latin typeface="ดองเต่า"/>
                  <a:ea typeface="ดองเต่า"/>
                  <a:cs typeface="ดองเต่า"/>
                  <a:sym typeface="ดองเต่า"/>
                </a:rPr>
                <a:t>ACV </a:t>
              </a:r>
              <a:r>
                <a:rPr lang="en-US" sz="4999">
                  <a:solidFill>
                    <a:srgbClr val="FCC254"/>
                  </a:solidFill>
                  <a:latin typeface="ดองเต่า"/>
                  <a:ea typeface="ดองเต่า"/>
                  <a:cs typeface="ดองเต่า"/>
                  <a:sym typeface="ดองเต่า"/>
                </a:rPr>
                <a:t>D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11410" y="3909314"/>
            <a:ext cx="4770783" cy="4114800"/>
          </a:xfrm>
          <a:custGeom>
            <a:avLst/>
            <a:gdLst/>
            <a:ahLst/>
            <a:cxnLst/>
            <a:rect r="r" b="b" t="t" l="l"/>
            <a:pathLst>
              <a:path h="4114800" w="4770783">
                <a:moveTo>
                  <a:pt x="0" y="0"/>
                </a:moveTo>
                <a:lnTo>
                  <a:pt x="4770782" y="0"/>
                </a:lnTo>
                <a:lnTo>
                  <a:pt x="477078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088701" y="3909314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683179" y="638175"/>
            <a:ext cx="6921642" cy="1908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9"/>
              </a:lnSpc>
              <a:spcBef>
                <a:spcPct val="0"/>
              </a:spcBef>
            </a:pPr>
            <a:r>
              <a:rPr lang="en-US" sz="9999">
                <a:solidFill>
                  <a:srgbClr val="567B2B"/>
                </a:solidFill>
                <a:latin typeface="ดองเต่า"/>
                <a:ea typeface="ดองเต่า"/>
                <a:cs typeface="ดองเต่า"/>
                <a:sym typeface="ดองเต่า"/>
              </a:rPr>
              <a:t>INTRODUCCIÓN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425539" y="-2285459"/>
            <a:ext cx="7527380" cy="5720809"/>
          </a:xfrm>
          <a:custGeom>
            <a:avLst/>
            <a:gdLst/>
            <a:ahLst/>
            <a:cxnLst/>
            <a:rect r="r" b="b" t="t" l="l"/>
            <a:pathLst>
              <a:path h="5720809" w="7527380">
                <a:moveTo>
                  <a:pt x="0" y="0"/>
                </a:moveTo>
                <a:lnTo>
                  <a:pt x="7527380" y="0"/>
                </a:lnTo>
                <a:lnTo>
                  <a:pt x="7527380" y="5720809"/>
                </a:lnTo>
                <a:lnTo>
                  <a:pt x="0" y="572080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355485" y="8792790"/>
            <a:ext cx="5577030" cy="1226947"/>
          </a:xfrm>
          <a:custGeom>
            <a:avLst/>
            <a:gdLst/>
            <a:ahLst/>
            <a:cxnLst/>
            <a:rect r="r" b="b" t="t" l="l"/>
            <a:pathLst>
              <a:path h="1226947" w="5577030">
                <a:moveTo>
                  <a:pt x="0" y="0"/>
                </a:moveTo>
                <a:lnTo>
                  <a:pt x="5577030" y="0"/>
                </a:lnTo>
                <a:lnTo>
                  <a:pt x="5577030" y="1226946"/>
                </a:lnTo>
                <a:lnTo>
                  <a:pt x="0" y="12269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224300" y="5980112"/>
            <a:ext cx="2480349" cy="2899109"/>
          </a:xfrm>
          <a:custGeom>
            <a:avLst/>
            <a:gdLst/>
            <a:ahLst/>
            <a:cxnLst/>
            <a:rect r="r" b="b" t="t" l="l"/>
            <a:pathLst>
              <a:path h="2899109" w="2480349">
                <a:moveTo>
                  <a:pt x="0" y="0"/>
                </a:moveTo>
                <a:lnTo>
                  <a:pt x="2480348" y="0"/>
                </a:lnTo>
                <a:lnTo>
                  <a:pt x="2480348" y="2899108"/>
                </a:lnTo>
                <a:lnTo>
                  <a:pt x="0" y="28991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270539" y="6086058"/>
            <a:ext cx="2687216" cy="2687216"/>
          </a:xfrm>
          <a:custGeom>
            <a:avLst/>
            <a:gdLst/>
            <a:ahLst/>
            <a:cxnLst/>
            <a:rect r="r" b="b" t="t" l="l"/>
            <a:pathLst>
              <a:path h="2687216" w="2687216">
                <a:moveTo>
                  <a:pt x="0" y="0"/>
                </a:moveTo>
                <a:lnTo>
                  <a:pt x="2687216" y="0"/>
                </a:lnTo>
                <a:lnTo>
                  <a:pt x="2687216" y="2687216"/>
                </a:lnTo>
                <a:lnTo>
                  <a:pt x="0" y="268721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749677" y="828675"/>
            <a:ext cx="6788646" cy="1143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  <a:spcBef>
                <a:spcPct val="0"/>
              </a:spcBef>
            </a:pPr>
            <a:r>
              <a:rPr lang="en-US" sz="5999">
                <a:solidFill>
                  <a:srgbClr val="567B2B"/>
                </a:solidFill>
                <a:latin typeface="ดองเต่า"/>
                <a:ea typeface="ดองเต่า"/>
                <a:cs typeface="ดองเต่า"/>
                <a:sym typeface="ดองเต่า"/>
              </a:rPr>
              <a:t>Modelo Lineal y Circular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3748087"/>
            <a:ext cx="6871548" cy="1793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567B2B"/>
                </a:solidFill>
                <a:latin typeface="ดองเต่า"/>
                <a:ea typeface="ดองเต่า"/>
                <a:cs typeface="ดองเต่า"/>
                <a:sym typeface="ดองเต่า"/>
              </a:rPr>
              <a:t>Este modelo es un sistema de producción y consumo basado en una secuencia unidireccional y de "un solo uso": extraer, fabricar, consumir y desechar.</a:t>
            </a:r>
          </a:p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567B2B"/>
                </a:solidFill>
                <a:latin typeface="ดองเต่า"/>
                <a:ea typeface="ดองเต่า"/>
                <a:cs typeface="ดองเต่า"/>
                <a:sym typeface="ดองเต่า"/>
              </a:rPr>
              <a:t>La OBSOLESCENCIA PROGRAMADA es el mejor ejemplo.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608415" y="2426190"/>
            <a:ext cx="1712119" cy="1143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  <a:spcBef>
                <a:spcPct val="0"/>
              </a:spcBef>
            </a:pPr>
            <a:r>
              <a:rPr lang="en-US" sz="5999">
                <a:solidFill>
                  <a:srgbClr val="567B2B"/>
                </a:solidFill>
                <a:latin typeface="ดองเต่า"/>
                <a:ea typeface="ดองเต่า"/>
                <a:cs typeface="ดองเต่า"/>
                <a:sym typeface="ดองเต่า"/>
              </a:rPr>
              <a:t>Lineal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178373" y="3767139"/>
            <a:ext cx="6871548" cy="1793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567B2B"/>
                </a:solidFill>
                <a:latin typeface="ดองเต่า"/>
                <a:ea typeface="ดองเต่า"/>
                <a:cs typeface="ดองเต่า"/>
                <a:sym typeface="ดองเต่า"/>
              </a:rPr>
              <a:t>Se ba</a:t>
            </a:r>
            <a:r>
              <a:rPr lang="en-US" sz="2500">
                <a:solidFill>
                  <a:srgbClr val="567B2B"/>
                </a:solidFill>
                <a:latin typeface="ดองเต่า"/>
                <a:ea typeface="ดองเต่า"/>
                <a:cs typeface="ดองเต่า"/>
                <a:sym typeface="ดองเต่า"/>
              </a:rPr>
              <a:t>sa en reducir el desperdicio, mantener los productos y materiales en uso el mayor tiempo posible y regenerar los sistemas naturales.</a:t>
            </a:r>
          </a:p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567B2B"/>
                </a:solidFill>
                <a:latin typeface="ดองเต่า"/>
                <a:ea typeface="ดองเต่า"/>
                <a:cs typeface="ดองเต่า"/>
                <a:sym typeface="ดองเต่า"/>
              </a:rPr>
              <a:t>Un ejemplo es el Green Coding.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522270" y="2445241"/>
            <a:ext cx="2183755" cy="1143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  <a:spcBef>
                <a:spcPct val="0"/>
              </a:spcBef>
            </a:pPr>
            <a:r>
              <a:rPr lang="en-US" sz="5999">
                <a:solidFill>
                  <a:srgbClr val="567B2B"/>
                </a:solidFill>
                <a:latin typeface="ดองเต่า"/>
                <a:ea typeface="ดองเต่า"/>
                <a:cs typeface="ดองเต่า"/>
                <a:sym typeface="ดองเต่า"/>
              </a:rPr>
              <a:t>Circular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67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00936" y="710233"/>
            <a:ext cx="3982640" cy="4309267"/>
            <a:chOff x="0" y="0"/>
            <a:chExt cx="5310187" cy="574568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310187" cy="4338014"/>
            </a:xfrm>
            <a:custGeom>
              <a:avLst/>
              <a:gdLst/>
              <a:ahLst/>
              <a:cxnLst/>
              <a:rect r="r" b="b" t="t" l="l"/>
              <a:pathLst>
                <a:path h="4338014" w="5310187">
                  <a:moveTo>
                    <a:pt x="0" y="0"/>
                  </a:moveTo>
                  <a:lnTo>
                    <a:pt x="5310187" y="0"/>
                  </a:lnTo>
                  <a:lnTo>
                    <a:pt x="5310187" y="4338014"/>
                  </a:lnTo>
                  <a:lnTo>
                    <a:pt x="0" y="43380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-2353" t="0" r="-32573" b="-65164"/>
              </a:stretch>
            </a:blipFill>
            <a:ln cap="sq">
              <a:noFill/>
              <a:prstDash val="solid"/>
              <a:miter/>
            </a:ln>
          </p:spPr>
        </p:sp>
        <p:grpSp>
          <p:nvGrpSpPr>
            <p:cNvPr name="Group 4" id="4"/>
            <p:cNvGrpSpPr/>
            <p:nvPr/>
          </p:nvGrpSpPr>
          <p:grpSpPr>
            <a:xfrm rot="0">
              <a:off x="0" y="3886594"/>
              <a:ext cx="5310187" cy="1859096"/>
              <a:chOff x="0" y="0"/>
              <a:chExt cx="1048926" cy="367229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1048926" cy="367229"/>
              </a:xfrm>
              <a:custGeom>
                <a:avLst/>
                <a:gdLst/>
                <a:ahLst/>
                <a:cxnLst/>
                <a:rect r="r" b="b" t="t" l="l"/>
                <a:pathLst>
                  <a:path h="367229" w="1048926">
                    <a:moveTo>
                      <a:pt x="0" y="0"/>
                    </a:moveTo>
                    <a:lnTo>
                      <a:pt x="1048926" y="0"/>
                    </a:lnTo>
                    <a:lnTo>
                      <a:pt x="1048926" y="367229"/>
                    </a:lnTo>
                    <a:lnTo>
                      <a:pt x="0" y="367229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47625"/>
                <a:ext cx="1048926" cy="41485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93"/>
                  </a:lnSpc>
                </a:pPr>
              </a:p>
            </p:txBody>
          </p:sp>
        </p:grpSp>
      </p:grpSp>
      <p:grpSp>
        <p:nvGrpSpPr>
          <p:cNvPr name="Group 7" id="7"/>
          <p:cNvGrpSpPr/>
          <p:nvPr/>
        </p:nvGrpSpPr>
        <p:grpSpPr>
          <a:xfrm rot="0">
            <a:off x="800936" y="5267499"/>
            <a:ext cx="3982640" cy="4309267"/>
            <a:chOff x="0" y="0"/>
            <a:chExt cx="5310187" cy="574568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310187" cy="4338014"/>
            </a:xfrm>
            <a:custGeom>
              <a:avLst/>
              <a:gdLst/>
              <a:ahLst/>
              <a:cxnLst/>
              <a:rect r="r" b="b" t="t" l="l"/>
              <a:pathLst>
                <a:path h="4338014" w="5310187">
                  <a:moveTo>
                    <a:pt x="0" y="0"/>
                  </a:moveTo>
                  <a:lnTo>
                    <a:pt x="5310187" y="0"/>
                  </a:lnTo>
                  <a:lnTo>
                    <a:pt x="5310187" y="4338014"/>
                  </a:lnTo>
                  <a:lnTo>
                    <a:pt x="0" y="43380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-2353" t="0" r="-32573" b="-65164"/>
              </a:stretch>
            </a:blipFill>
            <a:ln cap="sq">
              <a:noFill/>
              <a:prstDash val="solid"/>
              <a:miter/>
            </a:ln>
          </p:spPr>
        </p:sp>
        <p:grpSp>
          <p:nvGrpSpPr>
            <p:cNvPr name="Group 9" id="9"/>
            <p:cNvGrpSpPr/>
            <p:nvPr/>
          </p:nvGrpSpPr>
          <p:grpSpPr>
            <a:xfrm rot="0">
              <a:off x="0" y="3886594"/>
              <a:ext cx="5310187" cy="1859096"/>
              <a:chOff x="0" y="0"/>
              <a:chExt cx="1048926" cy="36722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048926" cy="367229"/>
              </a:xfrm>
              <a:custGeom>
                <a:avLst/>
                <a:gdLst/>
                <a:ahLst/>
                <a:cxnLst/>
                <a:rect r="r" b="b" t="t" l="l"/>
                <a:pathLst>
                  <a:path h="367229" w="1048926">
                    <a:moveTo>
                      <a:pt x="0" y="0"/>
                    </a:moveTo>
                    <a:lnTo>
                      <a:pt x="1048926" y="0"/>
                    </a:lnTo>
                    <a:lnTo>
                      <a:pt x="1048926" y="367229"/>
                    </a:lnTo>
                    <a:lnTo>
                      <a:pt x="0" y="367229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47625"/>
                <a:ext cx="1048926" cy="41485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93"/>
                  </a:lnSpc>
                </a:pPr>
              </a:p>
            </p:txBody>
          </p:sp>
        </p:grpSp>
      </p:grpSp>
      <p:grpSp>
        <p:nvGrpSpPr>
          <p:cNvPr name="Group 12" id="12"/>
          <p:cNvGrpSpPr/>
          <p:nvPr/>
        </p:nvGrpSpPr>
        <p:grpSpPr>
          <a:xfrm rot="0">
            <a:off x="5072419" y="710233"/>
            <a:ext cx="3982640" cy="4309267"/>
            <a:chOff x="0" y="0"/>
            <a:chExt cx="5310187" cy="574568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310187" cy="4338014"/>
            </a:xfrm>
            <a:custGeom>
              <a:avLst/>
              <a:gdLst/>
              <a:ahLst/>
              <a:cxnLst/>
              <a:rect r="r" b="b" t="t" l="l"/>
              <a:pathLst>
                <a:path h="4338014" w="5310187">
                  <a:moveTo>
                    <a:pt x="0" y="0"/>
                  </a:moveTo>
                  <a:lnTo>
                    <a:pt x="5310187" y="0"/>
                  </a:lnTo>
                  <a:lnTo>
                    <a:pt x="5310187" y="4338014"/>
                  </a:lnTo>
                  <a:lnTo>
                    <a:pt x="0" y="43380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-2353" t="0" r="-32573" b="-65164"/>
              </a:stretch>
            </a:blipFill>
            <a:ln cap="sq">
              <a:noFill/>
              <a:prstDash val="solid"/>
              <a:miter/>
            </a:ln>
          </p:spPr>
        </p:sp>
        <p:grpSp>
          <p:nvGrpSpPr>
            <p:cNvPr name="Group 14" id="14"/>
            <p:cNvGrpSpPr/>
            <p:nvPr/>
          </p:nvGrpSpPr>
          <p:grpSpPr>
            <a:xfrm rot="0">
              <a:off x="0" y="3886594"/>
              <a:ext cx="5310187" cy="1859096"/>
              <a:chOff x="0" y="0"/>
              <a:chExt cx="1048926" cy="367229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1048926" cy="367229"/>
              </a:xfrm>
              <a:custGeom>
                <a:avLst/>
                <a:gdLst/>
                <a:ahLst/>
                <a:cxnLst/>
                <a:rect r="r" b="b" t="t" l="l"/>
                <a:pathLst>
                  <a:path h="367229" w="1048926">
                    <a:moveTo>
                      <a:pt x="0" y="0"/>
                    </a:moveTo>
                    <a:lnTo>
                      <a:pt x="1048926" y="0"/>
                    </a:lnTo>
                    <a:lnTo>
                      <a:pt x="1048926" y="367229"/>
                    </a:lnTo>
                    <a:lnTo>
                      <a:pt x="0" y="367229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47625"/>
                <a:ext cx="1048926" cy="41485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93"/>
                  </a:lnSpc>
                </a:pPr>
              </a:p>
            </p:txBody>
          </p:sp>
        </p:grpSp>
      </p:grpSp>
      <p:grpSp>
        <p:nvGrpSpPr>
          <p:cNvPr name="Group 17" id="17"/>
          <p:cNvGrpSpPr/>
          <p:nvPr/>
        </p:nvGrpSpPr>
        <p:grpSpPr>
          <a:xfrm rot="0">
            <a:off x="5072419" y="5267499"/>
            <a:ext cx="3982640" cy="4309267"/>
            <a:chOff x="0" y="0"/>
            <a:chExt cx="5310187" cy="574568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310187" cy="4338014"/>
            </a:xfrm>
            <a:custGeom>
              <a:avLst/>
              <a:gdLst/>
              <a:ahLst/>
              <a:cxnLst/>
              <a:rect r="r" b="b" t="t" l="l"/>
              <a:pathLst>
                <a:path h="4338014" w="5310187">
                  <a:moveTo>
                    <a:pt x="0" y="0"/>
                  </a:moveTo>
                  <a:lnTo>
                    <a:pt x="5310187" y="0"/>
                  </a:lnTo>
                  <a:lnTo>
                    <a:pt x="5310187" y="4338014"/>
                  </a:lnTo>
                  <a:lnTo>
                    <a:pt x="0" y="43380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-2353" t="0" r="-32573" b="-65164"/>
              </a:stretch>
            </a:blipFill>
            <a:ln cap="sq">
              <a:noFill/>
              <a:prstDash val="solid"/>
              <a:miter/>
            </a:ln>
          </p:spPr>
        </p:sp>
        <p:grpSp>
          <p:nvGrpSpPr>
            <p:cNvPr name="Group 19" id="19"/>
            <p:cNvGrpSpPr/>
            <p:nvPr/>
          </p:nvGrpSpPr>
          <p:grpSpPr>
            <a:xfrm rot="0">
              <a:off x="0" y="3886594"/>
              <a:ext cx="5310187" cy="1859096"/>
              <a:chOff x="0" y="0"/>
              <a:chExt cx="1048926" cy="367229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048926" cy="367229"/>
              </a:xfrm>
              <a:custGeom>
                <a:avLst/>
                <a:gdLst/>
                <a:ahLst/>
                <a:cxnLst/>
                <a:rect r="r" b="b" t="t" l="l"/>
                <a:pathLst>
                  <a:path h="367229" w="1048926">
                    <a:moveTo>
                      <a:pt x="0" y="0"/>
                    </a:moveTo>
                    <a:lnTo>
                      <a:pt x="1048926" y="0"/>
                    </a:lnTo>
                    <a:lnTo>
                      <a:pt x="1048926" y="367229"/>
                    </a:lnTo>
                    <a:lnTo>
                      <a:pt x="0" y="367229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47625"/>
                <a:ext cx="1048926" cy="41485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93"/>
                  </a:lnSpc>
                </a:pPr>
              </a:p>
            </p:txBody>
          </p:sp>
        </p:grpSp>
      </p:grpSp>
      <p:grpSp>
        <p:nvGrpSpPr>
          <p:cNvPr name="Group 22" id="22"/>
          <p:cNvGrpSpPr/>
          <p:nvPr/>
        </p:nvGrpSpPr>
        <p:grpSpPr>
          <a:xfrm rot="0">
            <a:off x="9340809" y="710233"/>
            <a:ext cx="3982640" cy="4309267"/>
            <a:chOff x="0" y="0"/>
            <a:chExt cx="5310187" cy="574568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310187" cy="4338014"/>
            </a:xfrm>
            <a:custGeom>
              <a:avLst/>
              <a:gdLst/>
              <a:ahLst/>
              <a:cxnLst/>
              <a:rect r="r" b="b" t="t" l="l"/>
              <a:pathLst>
                <a:path h="4338014" w="5310187">
                  <a:moveTo>
                    <a:pt x="0" y="0"/>
                  </a:moveTo>
                  <a:lnTo>
                    <a:pt x="5310187" y="0"/>
                  </a:lnTo>
                  <a:lnTo>
                    <a:pt x="5310187" y="4338014"/>
                  </a:lnTo>
                  <a:lnTo>
                    <a:pt x="0" y="43380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-2353" t="0" r="-32573" b="-65164"/>
              </a:stretch>
            </a:blipFill>
            <a:ln cap="sq">
              <a:noFill/>
              <a:prstDash val="solid"/>
              <a:miter/>
            </a:ln>
          </p:spPr>
        </p:sp>
        <p:grpSp>
          <p:nvGrpSpPr>
            <p:cNvPr name="Group 24" id="24"/>
            <p:cNvGrpSpPr/>
            <p:nvPr/>
          </p:nvGrpSpPr>
          <p:grpSpPr>
            <a:xfrm rot="0">
              <a:off x="0" y="3886594"/>
              <a:ext cx="5310187" cy="1859096"/>
              <a:chOff x="0" y="0"/>
              <a:chExt cx="1048926" cy="367229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1048926" cy="367229"/>
              </a:xfrm>
              <a:custGeom>
                <a:avLst/>
                <a:gdLst/>
                <a:ahLst/>
                <a:cxnLst/>
                <a:rect r="r" b="b" t="t" l="l"/>
                <a:pathLst>
                  <a:path h="367229" w="1048926">
                    <a:moveTo>
                      <a:pt x="0" y="0"/>
                    </a:moveTo>
                    <a:lnTo>
                      <a:pt x="1048926" y="0"/>
                    </a:lnTo>
                    <a:lnTo>
                      <a:pt x="1048926" y="367229"/>
                    </a:lnTo>
                    <a:lnTo>
                      <a:pt x="0" y="367229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47625"/>
                <a:ext cx="1048926" cy="41485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93"/>
                  </a:lnSpc>
                </a:pPr>
              </a:p>
            </p:txBody>
          </p:sp>
        </p:grpSp>
      </p:grpSp>
      <p:grpSp>
        <p:nvGrpSpPr>
          <p:cNvPr name="Group 27" id="27"/>
          <p:cNvGrpSpPr/>
          <p:nvPr/>
        </p:nvGrpSpPr>
        <p:grpSpPr>
          <a:xfrm rot="0">
            <a:off x="9340809" y="5267499"/>
            <a:ext cx="3982640" cy="4309267"/>
            <a:chOff x="0" y="0"/>
            <a:chExt cx="5310187" cy="5745689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310187" cy="4338014"/>
            </a:xfrm>
            <a:custGeom>
              <a:avLst/>
              <a:gdLst/>
              <a:ahLst/>
              <a:cxnLst/>
              <a:rect r="r" b="b" t="t" l="l"/>
              <a:pathLst>
                <a:path h="4338014" w="5310187">
                  <a:moveTo>
                    <a:pt x="0" y="0"/>
                  </a:moveTo>
                  <a:lnTo>
                    <a:pt x="5310187" y="0"/>
                  </a:lnTo>
                  <a:lnTo>
                    <a:pt x="5310187" y="4338014"/>
                  </a:lnTo>
                  <a:lnTo>
                    <a:pt x="0" y="43380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-2353" t="0" r="-32573" b="-65164"/>
              </a:stretch>
            </a:blipFill>
            <a:ln cap="sq">
              <a:noFill/>
              <a:prstDash val="solid"/>
              <a:miter/>
            </a:ln>
          </p:spPr>
        </p:sp>
        <p:grpSp>
          <p:nvGrpSpPr>
            <p:cNvPr name="Group 29" id="29"/>
            <p:cNvGrpSpPr/>
            <p:nvPr/>
          </p:nvGrpSpPr>
          <p:grpSpPr>
            <a:xfrm rot="0">
              <a:off x="0" y="3886594"/>
              <a:ext cx="5310187" cy="1859096"/>
              <a:chOff x="0" y="0"/>
              <a:chExt cx="1048926" cy="367229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1048926" cy="367229"/>
              </a:xfrm>
              <a:custGeom>
                <a:avLst/>
                <a:gdLst/>
                <a:ahLst/>
                <a:cxnLst/>
                <a:rect r="r" b="b" t="t" l="l"/>
                <a:pathLst>
                  <a:path h="367229" w="1048926">
                    <a:moveTo>
                      <a:pt x="0" y="0"/>
                    </a:moveTo>
                    <a:lnTo>
                      <a:pt x="1048926" y="0"/>
                    </a:lnTo>
                    <a:lnTo>
                      <a:pt x="1048926" y="367229"/>
                    </a:lnTo>
                    <a:lnTo>
                      <a:pt x="0" y="367229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-47625"/>
                <a:ext cx="1048926" cy="41485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93"/>
                  </a:lnSpc>
                </a:pPr>
              </a:p>
            </p:txBody>
          </p:sp>
        </p:grpSp>
      </p:grpSp>
      <p:sp>
        <p:nvSpPr>
          <p:cNvPr name="Freeform 32" id="32"/>
          <p:cNvSpPr/>
          <p:nvPr/>
        </p:nvSpPr>
        <p:spPr>
          <a:xfrm flipH="false" flipV="false" rot="-5833802">
            <a:off x="16632802" y="-1577050"/>
            <a:ext cx="3310396" cy="4150967"/>
          </a:xfrm>
          <a:custGeom>
            <a:avLst/>
            <a:gdLst/>
            <a:ahLst/>
            <a:cxnLst/>
            <a:rect r="r" b="b" t="t" l="l"/>
            <a:pathLst>
              <a:path h="4150967" w="3310396">
                <a:moveTo>
                  <a:pt x="0" y="0"/>
                </a:moveTo>
                <a:lnTo>
                  <a:pt x="3310396" y="0"/>
                </a:lnTo>
                <a:lnTo>
                  <a:pt x="3310396" y="4150967"/>
                </a:lnTo>
                <a:lnTo>
                  <a:pt x="0" y="415096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3" id="33"/>
          <p:cNvGrpSpPr/>
          <p:nvPr/>
        </p:nvGrpSpPr>
        <p:grpSpPr>
          <a:xfrm rot="0">
            <a:off x="13504424" y="3112866"/>
            <a:ext cx="3982640" cy="4309267"/>
            <a:chOff x="0" y="0"/>
            <a:chExt cx="5310187" cy="5745689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310187" cy="4338014"/>
            </a:xfrm>
            <a:custGeom>
              <a:avLst/>
              <a:gdLst/>
              <a:ahLst/>
              <a:cxnLst/>
              <a:rect r="r" b="b" t="t" l="l"/>
              <a:pathLst>
                <a:path h="4338014" w="5310187">
                  <a:moveTo>
                    <a:pt x="0" y="0"/>
                  </a:moveTo>
                  <a:lnTo>
                    <a:pt x="5310187" y="0"/>
                  </a:lnTo>
                  <a:lnTo>
                    <a:pt x="5310187" y="4338014"/>
                  </a:lnTo>
                  <a:lnTo>
                    <a:pt x="0" y="43380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-2353" t="0" r="-32573" b="-65164"/>
              </a:stretch>
            </a:blipFill>
            <a:ln cap="sq">
              <a:noFill/>
              <a:prstDash val="solid"/>
              <a:miter/>
            </a:ln>
          </p:spPr>
        </p:sp>
        <p:grpSp>
          <p:nvGrpSpPr>
            <p:cNvPr name="Group 35" id="35"/>
            <p:cNvGrpSpPr/>
            <p:nvPr/>
          </p:nvGrpSpPr>
          <p:grpSpPr>
            <a:xfrm rot="0">
              <a:off x="0" y="3886594"/>
              <a:ext cx="5310187" cy="1859096"/>
              <a:chOff x="0" y="0"/>
              <a:chExt cx="1048926" cy="367229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1048926" cy="367229"/>
              </a:xfrm>
              <a:custGeom>
                <a:avLst/>
                <a:gdLst/>
                <a:ahLst/>
                <a:cxnLst/>
                <a:rect r="r" b="b" t="t" l="l"/>
                <a:pathLst>
                  <a:path h="367229" w="1048926">
                    <a:moveTo>
                      <a:pt x="0" y="0"/>
                    </a:moveTo>
                    <a:lnTo>
                      <a:pt x="1048926" y="0"/>
                    </a:lnTo>
                    <a:lnTo>
                      <a:pt x="1048926" y="367229"/>
                    </a:lnTo>
                    <a:lnTo>
                      <a:pt x="0" y="367229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0" y="-47625"/>
                <a:ext cx="1048926" cy="41485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93"/>
                  </a:lnSpc>
                </a:pPr>
              </a:p>
            </p:txBody>
          </p:sp>
        </p:grpSp>
      </p:grpSp>
      <p:sp>
        <p:nvSpPr>
          <p:cNvPr name="Freeform 38" id="38"/>
          <p:cNvSpPr/>
          <p:nvPr/>
        </p:nvSpPr>
        <p:spPr>
          <a:xfrm flipH="false" flipV="false" rot="0">
            <a:off x="1721133" y="2158339"/>
            <a:ext cx="2142245" cy="2142245"/>
          </a:xfrm>
          <a:custGeom>
            <a:avLst/>
            <a:gdLst/>
            <a:ahLst/>
            <a:cxnLst/>
            <a:rect r="r" b="b" t="t" l="l"/>
            <a:pathLst>
              <a:path h="2142245" w="2142245">
                <a:moveTo>
                  <a:pt x="0" y="0"/>
                </a:moveTo>
                <a:lnTo>
                  <a:pt x="2142246" y="0"/>
                </a:lnTo>
                <a:lnTo>
                  <a:pt x="2142246" y="2142245"/>
                </a:lnTo>
                <a:lnTo>
                  <a:pt x="0" y="21422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5899400" y="1985833"/>
            <a:ext cx="2325586" cy="2487257"/>
          </a:xfrm>
          <a:custGeom>
            <a:avLst/>
            <a:gdLst/>
            <a:ahLst/>
            <a:cxnLst/>
            <a:rect r="r" b="b" t="t" l="l"/>
            <a:pathLst>
              <a:path h="2487257" w="2325586">
                <a:moveTo>
                  <a:pt x="0" y="0"/>
                </a:moveTo>
                <a:lnTo>
                  <a:pt x="2325585" y="0"/>
                </a:lnTo>
                <a:lnTo>
                  <a:pt x="2325585" y="2487257"/>
                </a:lnTo>
                <a:lnTo>
                  <a:pt x="0" y="248725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14161865" y="4473090"/>
            <a:ext cx="2667758" cy="2534370"/>
          </a:xfrm>
          <a:custGeom>
            <a:avLst/>
            <a:gdLst/>
            <a:ahLst/>
            <a:cxnLst/>
            <a:rect r="r" b="b" t="t" l="l"/>
            <a:pathLst>
              <a:path h="2534370" w="2667758">
                <a:moveTo>
                  <a:pt x="0" y="0"/>
                </a:moveTo>
                <a:lnTo>
                  <a:pt x="2667758" y="0"/>
                </a:lnTo>
                <a:lnTo>
                  <a:pt x="2667758" y="2534370"/>
                </a:lnTo>
                <a:lnTo>
                  <a:pt x="0" y="253437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0">
            <a:off x="1721133" y="6702868"/>
            <a:ext cx="2195337" cy="2173383"/>
          </a:xfrm>
          <a:custGeom>
            <a:avLst/>
            <a:gdLst/>
            <a:ahLst/>
            <a:cxnLst/>
            <a:rect r="r" b="b" t="t" l="l"/>
            <a:pathLst>
              <a:path h="2173383" w="2195337">
                <a:moveTo>
                  <a:pt x="0" y="0"/>
                </a:moveTo>
                <a:lnTo>
                  <a:pt x="2195337" y="0"/>
                </a:lnTo>
                <a:lnTo>
                  <a:pt x="2195337" y="2173383"/>
                </a:lnTo>
                <a:lnTo>
                  <a:pt x="0" y="217338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0">
            <a:off x="5899400" y="6531418"/>
            <a:ext cx="2410215" cy="2410215"/>
          </a:xfrm>
          <a:custGeom>
            <a:avLst/>
            <a:gdLst/>
            <a:ahLst/>
            <a:cxnLst/>
            <a:rect r="r" b="b" t="t" l="l"/>
            <a:pathLst>
              <a:path h="2410215" w="2410215">
                <a:moveTo>
                  <a:pt x="0" y="0"/>
                </a:moveTo>
                <a:lnTo>
                  <a:pt x="2410215" y="0"/>
                </a:lnTo>
                <a:lnTo>
                  <a:pt x="2410215" y="2410215"/>
                </a:lnTo>
                <a:lnTo>
                  <a:pt x="0" y="241021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10237917" y="6592577"/>
            <a:ext cx="2283674" cy="2283674"/>
          </a:xfrm>
          <a:custGeom>
            <a:avLst/>
            <a:gdLst/>
            <a:ahLst/>
            <a:cxnLst/>
            <a:rect r="r" b="b" t="t" l="l"/>
            <a:pathLst>
              <a:path h="2283674" w="2283674">
                <a:moveTo>
                  <a:pt x="0" y="0"/>
                </a:moveTo>
                <a:lnTo>
                  <a:pt x="2283674" y="0"/>
                </a:lnTo>
                <a:lnTo>
                  <a:pt x="2283674" y="2283674"/>
                </a:lnTo>
                <a:lnTo>
                  <a:pt x="0" y="2283674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4" id="44"/>
          <p:cNvSpPr/>
          <p:nvPr/>
        </p:nvSpPr>
        <p:spPr>
          <a:xfrm flipH="false" flipV="false" rot="0">
            <a:off x="10162846" y="1985833"/>
            <a:ext cx="2338566" cy="2474673"/>
          </a:xfrm>
          <a:custGeom>
            <a:avLst/>
            <a:gdLst/>
            <a:ahLst/>
            <a:cxnLst/>
            <a:rect r="r" b="b" t="t" l="l"/>
            <a:pathLst>
              <a:path h="2474673" w="2338566">
                <a:moveTo>
                  <a:pt x="0" y="0"/>
                </a:moveTo>
                <a:lnTo>
                  <a:pt x="2338566" y="0"/>
                </a:lnTo>
                <a:lnTo>
                  <a:pt x="2338566" y="2474673"/>
                </a:lnTo>
                <a:lnTo>
                  <a:pt x="0" y="2474673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5" id="45"/>
          <p:cNvSpPr txBox="true"/>
          <p:nvPr/>
        </p:nvSpPr>
        <p:spPr>
          <a:xfrm rot="0">
            <a:off x="993498" y="1303870"/>
            <a:ext cx="3593145" cy="604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17"/>
              </a:lnSpc>
              <a:spcBef>
                <a:spcPct val="0"/>
              </a:spcBef>
            </a:pPr>
            <a:r>
              <a:rPr lang="en-US" sz="3917">
                <a:solidFill>
                  <a:srgbClr val="000000"/>
                </a:solidFill>
                <a:latin typeface="ดองเต่า"/>
                <a:ea typeface="ดองเต่า"/>
                <a:cs typeface="ดองเต่า"/>
                <a:sym typeface="ดองเต่า"/>
              </a:rPr>
              <a:t>REDISEÑAR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995683" y="5848642"/>
            <a:ext cx="3593145" cy="606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17"/>
              </a:lnSpc>
              <a:spcBef>
                <a:spcPct val="0"/>
              </a:spcBef>
            </a:pPr>
            <a:r>
              <a:rPr lang="en-US" sz="3917">
                <a:solidFill>
                  <a:srgbClr val="000000"/>
                </a:solidFill>
                <a:latin typeface="ดองเต่า"/>
                <a:ea typeface="ดองเต่า"/>
                <a:cs typeface="ดองเต่า"/>
                <a:sym typeface="ดองเต่า"/>
              </a:rPr>
              <a:t>REPARAR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5265620" y="1304927"/>
            <a:ext cx="3593145" cy="603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17"/>
              </a:lnSpc>
              <a:spcBef>
                <a:spcPct val="0"/>
              </a:spcBef>
            </a:pPr>
            <a:r>
              <a:rPr lang="en-US" sz="3917">
                <a:solidFill>
                  <a:srgbClr val="000000"/>
                </a:solidFill>
                <a:latin typeface="ดองเต่า"/>
                <a:ea typeface="ดองเต่า"/>
                <a:cs typeface="ดองเต่า"/>
                <a:sym typeface="ดองเต่า"/>
              </a:rPr>
              <a:t>REDUCIR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5267166" y="5851941"/>
            <a:ext cx="3593145" cy="603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17"/>
              </a:lnSpc>
              <a:spcBef>
                <a:spcPct val="0"/>
              </a:spcBef>
            </a:pPr>
            <a:r>
              <a:rPr lang="en-US" sz="3917">
                <a:solidFill>
                  <a:srgbClr val="000000"/>
                </a:solidFill>
                <a:latin typeface="ดองเต่า"/>
                <a:ea typeface="ดองเต่า"/>
                <a:cs typeface="ดองเต่า"/>
                <a:sym typeface="ดองเต่า"/>
              </a:rPr>
              <a:t>RENOVAR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9535556" y="1304927"/>
            <a:ext cx="3593145" cy="603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17"/>
              </a:lnSpc>
              <a:spcBef>
                <a:spcPct val="0"/>
              </a:spcBef>
            </a:pPr>
            <a:r>
              <a:rPr lang="en-US" sz="3917">
                <a:solidFill>
                  <a:srgbClr val="000000"/>
                </a:solidFill>
                <a:latin typeface="ดองเต่า"/>
                <a:ea typeface="ดองเต่า"/>
                <a:cs typeface="ดองเต่า"/>
                <a:sym typeface="ดองเต่า"/>
              </a:rPr>
              <a:t>REUTILIZAR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9540834" y="5851941"/>
            <a:ext cx="3593145" cy="603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17"/>
              </a:lnSpc>
              <a:spcBef>
                <a:spcPct val="0"/>
              </a:spcBef>
            </a:pPr>
            <a:r>
              <a:rPr lang="en-US" sz="3917">
                <a:solidFill>
                  <a:srgbClr val="000000"/>
                </a:solidFill>
                <a:latin typeface="ดองเต่า"/>
                <a:ea typeface="ดองเต่า"/>
                <a:cs typeface="ดองเต่า"/>
                <a:sym typeface="ดองเต่า"/>
              </a:rPr>
              <a:t>RECUPERAR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3699171" y="3697307"/>
            <a:ext cx="3593145" cy="603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17"/>
              </a:lnSpc>
              <a:spcBef>
                <a:spcPct val="0"/>
              </a:spcBef>
            </a:pPr>
            <a:r>
              <a:rPr lang="en-US" sz="3917">
                <a:solidFill>
                  <a:srgbClr val="000000"/>
                </a:solidFill>
                <a:latin typeface="ดองเต่า"/>
                <a:ea typeface="ดองเต่า"/>
                <a:cs typeface="ดองเต่า"/>
                <a:sym typeface="ดองเต่า"/>
              </a:rPr>
              <a:t>RECICLAR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255944" y="1028700"/>
            <a:ext cx="6003356" cy="4114800"/>
          </a:xfrm>
          <a:custGeom>
            <a:avLst/>
            <a:gdLst/>
            <a:ahLst/>
            <a:cxnLst/>
            <a:rect r="r" b="b" t="t" l="l"/>
            <a:pathLst>
              <a:path h="4114800" w="6003356">
                <a:moveTo>
                  <a:pt x="0" y="0"/>
                </a:moveTo>
                <a:lnTo>
                  <a:pt x="6003356" y="0"/>
                </a:lnTo>
                <a:lnTo>
                  <a:pt x="600335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808902" y="6322742"/>
            <a:ext cx="11633550" cy="2935558"/>
            <a:chOff x="0" y="0"/>
            <a:chExt cx="3063980" cy="77315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063980" cy="773151"/>
            </a:xfrm>
            <a:custGeom>
              <a:avLst/>
              <a:gdLst/>
              <a:ahLst/>
              <a:cxnLst/>
              <a:rect r="r" b="b" t="t" l="l"/>
              <a:pathLst>
                <a:path h="773151" w="3063980">
                  <a:moveTo>
                    <a:pt x="66548" y="0"/>
                  </a:moveTo>
                  <a:lnTo>
                    <a:pt x="2997432" y="0"/>
                  </a:lnTo>
                  <a:cubicBezTo>
                    <a:pt x="3034186" y="0"/>
                    <a:pt x="3063980" y="29795"/>
                    <a:pt x="3063980" y="66548"/>
                  </a:cubicBezTo>
                  <a:lnTo>
                    <a:pt x="3063980" y="706603"/>
                  </a:lnTo>
                  <a:cubicBezTo>
                    <a:pt x="3063980" y="743356"/>
                    <a:pt x="3034186" y="773151"/>
                    <a:pt x="2997432" y="773151"/>
                  </a:cubicBezTo>
                  <a:lnTo>
                    <a:pt x="66548" y="773151"/>
                  </a:lnTo>
                  <a:cubicBezTo>
                    <a:pt x="29795" y="773151"/>
                    <a:pt x="0" y="743356"/>
                    <a:pt x="0" y="706603"/>
                  </a:cubicBezTo>
                  <a:lnTo>
                    <a:pt x="0" y="66548"/>
                  </a:lnTo>
                  <a:cubicBezTo>
                    <a:pt x="0" y="29795"/>
                    <a:pt x="29795" y="0"/>
                    <a:pt x="66548" y="0"/>
                  </a:cubicBezTo>
                  <a:close/>
                </a:path>
              </a:pathLst>
            </a:custGeom>
            <a:solidFill>
              <a:srgbClr val="CBEBF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3063980" cy="8207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93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240939" y="3945890"/>
            <a:ext cx="7903061" cy="2280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4480"/>
              </a:lnSpc>
              <a:spcBef>
                <a:spcPct val="0"/>
              </a:spcBef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ดองเต่า"/>
                <a:ea typeface="ดองเต่า"/>
                <a:cs typeface="ดองเต่า"/>
                <a:sym typeface="ดองเต่า"/>
              </a:rPr>
              <a:t>P</a:t>
            </a:r>
            <a:r>
              <a:rPr lang="en-US" sz="3200">
                <a:solidFill>
                  <a:srgbClr val="000000"/>
                </a:solidFill>
                <a:latin typeface="ดองเต่า"/>
                <a:ea typeface="ดองเต่า"/>
                <a:cs typeface="ดองเต่า"/>
                <a:sym typeface="ดองเต่า"/>
              </a:rPr>
              <a:t>ublicidad</a:t>
            </a:r>
          </a:p>
          <a:p>
            <a:pPr algn="l" marL="690881" indent="-345440" lvl="1">
              <a:lnSpc>
                <a:spcPts val="4480"/>
              </a:lnSpc>
              <a:spcBef>
                <a:spcPct val="0"/>
              </a:spcBef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ดองเต่า"/>
                <a:ea typeface="ดองเต่า"/>
                <a:cs typeface="ดองเต่า"/>
                <a:sym typeface="ดองเต่า"/>
              </a:rPr>
              <a:t>Reconocimiento social</a:t>
            </a:r>
          </a:p>
          <a:p>
            <a:pPr algn="l" marL="690881" indent="-345440" lvl="1">
              <a:lnSpc>
                <a:spcPts val="4480"/>
              </a:lnSpc>
              <a:spcBef>
                <a:spcPct val="0"/>
              </a:spcBef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ดองเต่า"/>
                <a:ea typeface="ดองเต่า"/>
                <a:cs typeface="ดองเต่า"/>
                <a:sym typeface="ดองเต่า"/>
              </a:rPr>
              <a:t>Productos de un solo uso</a:t>
            </a:r>
          </a:p>
          <a:p>
            <a:pPr algn="l" marL="690881" indent="-345440" lvl="1">
              <a:lnSpc>
                <a:spcPts val="4480"/>
              </a:lnSpc>
              <a:spcBef>
                <a:spcPct val="0"/>
              </a:spcBef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ดองเต่า"/>
                <a:ea typeface="ดองเต่า"/>
                <a:cs typeface="ดองเต่า"/>
                <a:sym typeface="ดองเต่า"/>
              </a:rPr>
              <a:t>Obsolescencia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765601" y="7212652"/>
            <a:ext cx="5979467" cy="1155739"/>
            <a:chOff x="0" y="0"/>
            <a:chExt cx="7972622" cy="1540985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892650"/>
              <a:ext cx="7972622" cy="6483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000000"/>
                  </a:solidFill>
                  <a:latin typeface="ดองเต่า"/>
                  <a:ea typeface="ดองเต่า"/>
                  <a:cs typeface="ดองเต่า"/>
                  <a:sym typeface="ดองเต่า"/>
                </a:rPr>
                <a:t> La economía de la funcionalidad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-161925"/>
              <a:ext cx="7972622" cy="10102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879"/>
                </a:lnSpc>
                <a:spcBef>
                  <a:spcPct val="0"/>
                </a:spcBef>
              </a:pPr>
              <a:r>
                <a:rPr lang="en-US" sz="4199">
                  <a:solidFill>
                    <a:srgbClr val="000000"/>
                  </a:solidFill>
                  <a:latin typeface="ดองเต่า"/>
                  <a:ea typeface="ดองเต่า"/>
                  <a:cs typeface="ดองเต่า"/>
                  <a:sym typeface="ดองเต่า"/>
                </a:rPr>
                <a:t>SOLUCIÓN PROPUESTA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534865" y="139700"/>
            <a:ext cx="7396896" cy="2946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699"/>
              </a:lnSpc>
            </a:pPr>
            <a:r>
              <a:rPr lang="en-US" sz="9999">
                <a:solidFill>
                  <a:srgbClr val="567B2B"/>
                </a:solidFill>
                <a:latin typeface="ดองเต่า"/>
                <a:ea typeface="ดองเต่า"/>
                <a:cs typeface="ดองเต่า"/>
                <a:sym typeface="ดองเต่า"/>
              </a:rPr>
              <a:t>CONSUMISMO Y FUNCIONALIDAD 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67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529456" y="2921411"/>
            <a:ext cx="5087831" cy="5158764"/>
          </a:xfrm>
          <a:custGeom>
            <a:avLst/>
            <a:gdLst/>
            <a:ahLst/>
            <a:cxnLst/>
            <a:rect r="r" b="b" t="t" l="l"/>
            <a:pathLst>
              <a:path h="5158764" w="5087831">
                <a:moveTo>
                  <a:pt x="0" y="0"/>
                </a:moveTo>
                <a:lnTo>
                  <a:pt x="5087831" y="0"/>
                </a:lnTo>
                <a:lnTo>
                  <a:pt x="5087831" y="5158764"/>
                </a:lnTo>
                <a:lnTo>
                  <a:pt x="0" y="51587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450748" y="2801165"/>
            <a:ext cx="5527760" cy="5279010"/>
          </a:xfrm>
          <a:custGeom>
            <a:avLst/>
            <a:gdLst/>
            <a:ahLst/>
            <a:cxnLst/>
            <a:rect r="r" b="b" t="t" l="l"/>
            <a:pathLst>
              <a:path h="5279010" w="5527760">
                <a:moveTo>
                  <a:pt x="0" y="0"/>
                </a:moveTo>
                <a:lnTo>
                  <a:pt x="5527760" y="0"/>
                </a:lnTo>
                <a:lnTo>
                  <a:pt x="5527760" y="5279010"/>
                </a:lnTo>
                <a:lnTo>
                  <a:pt x="0" y="52790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073372" y="952500"/>
            <a:ext cx="8141257" cy="159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699"/>
              </a:lnSpc>
            </a:pPr>
            <a:r>
              <a:rPr lang="en-US" sz="9999">
                <a:solidFill>
                  <a:srgbClr val="FFFFFF"/>
                </a:solidFill>
                <a:latin typeface="ดองเต่า"/>
                <a:ea typeface="ดองเต่า"/>
                <a:cs typeface="ดองเต่า"/>
                <a:sym typeface="ดองเต่า"/>
              </a:rPr>
              <a:t>ECONOMIA VERDE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743517"/>
            <a:ext cx="3169507" cy="5394905"/>
          </a:xfrm>
          <a:custGeom>
            <a:avLst/>
            <a:gdLst/>
            <a:ahLst/>
            <a:cxnLst/>
            <a:rect r="r" b="b" t="t" l="l"/>
            <a:pathLst>
              <a:path h="5394905" w="3169507">
                <a:moveTo>
                  <a:pt x="0" y="0"/>
                </a:moveTo>
                <a:lnTo>
                  <a:pt x="3169507" y="0"/>
                </a:lnTo>
                <a:lnTo>
                  <a:pt x="3169507" y="5394905"/>
                </a:lnTo>
                <a:lnTo>
                  <a:pt x="0" y="53949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5319131" y="2944624"/>
          <a:ext cx="11940169" cy="6975653"/>
        </p:xfrm>
        <a:graphic>
          <a:graphicData uri="http://schemas.openxmlformats.org/drawingml/2006/table">
            <a:tbl>
              <a:tblPr/>
              <a:tblGrid>
                <a:gridCol w="3818002"/>
                <a:gridCol w="8122167"/>
              </a:tblGrid>
              <a:tr h="135997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6159"/>
                        </a:lnSpc>
                        <a:defRPr/>
                      </a:pPr>
                      <a:r>
                        <a:rPr lang="en-US" sz="4399">
                          <a:solidFill>
                            <a:srgbClr val="FFFFFF"/>
                          </a:solidFill>
                          <a:latin typeface="ดองเต่า"/>
                          <a:ea typeface="ดองเต่า"/>
                          <a:cs typeface="ดองเต่า"/>
                          <a:sym typeface="ดองเต่า"/>
                        </a:rPr>
                        <a:t>Etapa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7B2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6159"/>
                        </a:lnSpc>
                        <a:defRPr/>
                      </a:pPr>
                      <a:r>
                        <a:rPr lang="en-US" sz="4399">
                          <a:solidFill>
                            <a:srgbClr val="FFFFFF"/>
                          </a:solidFill>
                          <a:latin typeface="ดองเต่า"/>
                          <a:ea typeface="ดองเต่า"/>
                          <a:cs typeface="ดองเต่า"/>
                          <a:sym typeface="ดองเต่า"/>
                        </a:rPr>
                        <a:t>Pregunta ambiental principal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7B2B"/>
                    </a:solidFill>
                  </a:tcPr>
                </a:tc>
              </a:tr>
              <a:tr h="130251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 b="true">
                          <a:solidFill>
                            <a:srgbClr val="000000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Extracción y abastecimiento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¿Qué materiales se necesitan y qué recursos y energía exige obtenerlos?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5885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 b="true">
                          <a:solidFill>
                            <a:srgbClr val="000000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Fabricación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¿Cómo se transforman, qué energía se consume y qué residuos se producen?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9772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 b="true">
                          <a:solidFill>
                            <a:srgbClr val="000000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Distribución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¿Qué transporte, distancias y embalajes se utilizan?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5885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 b="true">
                          <a:solidFill>
                            <a:srgbClr val="000000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Consumo y uso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¿Cuánto dura el producto, qué consumos necesita y cómo se mantiene o repara?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9772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 b="true">
                          <a:solidFill>
                            <a:srgbClr val="000000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Fin de vida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¿Puede reutilizarse, desmontarse, recuperarse o reciclarse?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4" id="4"/>
          <p:cNvSpPr txBox="true"/>
          <p:nvPr/>
        </p:nvSpPr>
        <p:spPr>
          <a:xfrm rot="0">
            <a:off x="5319131" y="638175"/>
            <a:ext cx="11940169" cy="1908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9"/>
              </a:lnSpc>
              <a:spcBef>
                <a:spcPct val="0"/>
              </a:spcBef>
            </a:pPr>
            <a:r>
              <a:rPr lang="en-US" sz="9999">
                <a:solidFill>
                  <a:srgbClr val="567B2B"/>
                </a:solidFill>
                <a:latin typeface="ดองเต่า"/>
                <a:ea typeface="ดองเต่า"/>
                <a:cs typeface="ดองเต่า"/>
                <a:sym typeface="ดองเต่า"/>
              </a:rPr>
              <a:t>ETAPAS DE UN PRODUCTO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67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45235" y="2667927"/>
            <a:ext cx="3055239" cy="4114800"/>
          </a:xfrm>
          <a:custGeom>
            <a:avLst/>
            <a:gdLst/>
            <a:ahLst/>
            <a:cxnLst/>
            <a:rect r="r" b="b" t="t" l="l"/>
            <a:pathLst>
              <a:path h="4114800" w="3055239">
                <a:moveTo>
                  <a:pt x="0" y="0"/>
                </a:moveTo>
                <a:lnTo>
                  <a:pt x="3055239" y="0"/>
                </a:lnTo>
                <a:lnTo>
                  <a:pt x="305523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143346" y="6349578"/>
            <a:ext cx="4144654" cy="3937422"/>
          </a:xfrm>
          <a:custGeom>
            <a:avLst/>
            <a:gdLst/>
            <a:ahLst/>
            <a:cxnLst/>
            <a:rect r="r" b="b" t="t" l="l"/>
            <a:pathLst>
              <a:path h="3937422" w="4144654">
                <a:moveTo>
                  <a:pt x="0" y="0"/>
                </a:moveTo>
                <a:lnTo>
                  <a:pt x="4144654" y="0"/>
                </a:lnTo>
                <a:lnTo>
                  <a:pt x="4144654" y="3937422"/>
                </a:lnTo>
                <a:lnTo>
                  <a:pt x="0" y="39374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144000" y="3448736"/>
            <a:ext cx="5489958" cy="3842970"/>
          </a:xfrm>
          <a:custGeom>
            <a:avLst/>
            <a:gdLst/>
            <a:ahLst/>
            <a:cxnLst/>
            <a:rect r="r" b="b" t="t" l="l"/>
            <a:pathLst>
              <a:path h="3842970" w="5489958">
                <a:moveTo>
                  <a:pt x="0" y="0"/>
                </a:moveTo>
                <a:lnTo>
                  <a:pt x="5489958" y="0"/>
                </a:lnTo>
                <a:lnTo>
                  <a:pt x="5489958" y="3842970"/>
                </a:lnTo>
                <a:lnTo>
                  <a:pt x="0" y="38429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9385096" y="4488079"/>
            <a:ext cx="4522438" cy="1894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45"/>
              </a:lnSpc>
            </a:pPr>
            <a:r>
              <a:rPr lang="en-US" sz="4200">
                <a:solidFill>
                  <a:srgbClr val="84AF4E"/>
                </a:solidFill>
                <a:latin typeface="ดองเต่า"/>
                <a:ea typeface="ดองเต่า"/>
                <a:cs typeface="ดองเต่า"/>
                <a:sym typeface="ดองเต่า"/>
              </a:rPr>
              <a:t>Os voy a exprimir hasta el ultimo centimo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504238" y="914400"/>
            <a:ext cx="12755062" cy="1480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69"/>
              </a:lnSpc>
            </a:pPr>
            <a:r>
              <a:rPr lang="en-US" sz="9000">
                <a:solidFill>
                  <a:srgbClr val="A0BD6C"/>
                </a:solidFill>
                <a:latin typeface="ดองเต่า"/>
                <a:ea typeface="ดองเต่า"/>
                <a:cs typeface="ดองเต่า"/>
                <a:sym typeface="ดองเต่า"/>
              </a:rPr>
              <a:t>OBSOLESCENSIA PROGRAMADA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561514" y="3086100"/>
            <a:ext cx="4649492" cy="4114800"/>
            <a:chOff x="0" y="0"/>
            <a:chExt cx="6199322" cy="5486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968857" y="398400"/>
              <a:ext cx="2261607" cy="2774978"/>
            </a:xfrm>
            <a:custGeom>
              <a:avLst/>
              <a:gdLst/>
              <a:ahLst/>
              <a:cxnLst/>
              <a:rect r="r" b="b" t="t" l="l"/>
              <a:pathLst>
                <a:path h="2774978" w="2261607">
                  <a:moveTo>
                    <a:pt x="0" y="0"/>
                  </a:moveTo>
                  <a:lnTo>
                    <a:pt x="2261608" y="0"/>
                  </a:lnTo>
                  <a:lnTo>
                    <a:pt x="2261608" y="2774978"/>
                  </a:lnTo>
                  <a:lnTo>
                    <a:pt x="0" y="27749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199322" cy="5486400"/>
            </a:xfrm>
            <a:custGeom>
              <a:avLst/>
              <a:gdLst/>
              <a:ahLst/>
              <a:cxnLst/>
              <a:rect r="r" b="b" t="t" l="l"/>
              <a:pathLst>
                <a:path h="5486400" w="6199322">
                  <a:moveTo>
                    <a:pt x="0" y="0"/>
                  </a:moveTo>
                  <a:lnTo>
                    <a:pt x="6199322" y="0"/>
                  </a:lnTo>
                  <a:lnTo>
                    <a:pt x="6199322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1969349" y="3086100"/>
            <a:ext cx="3847338" cy="4114800"/>
          </a:xfrm>
          <a:custGeom>
            <a:avLst/>
            <a:gdLst/>
            <a:ahLst/>
            <a:cxnLst/>
            <a:rect r="r" b="b" t="t" l="l"/>
            <a:pathLst>
              <a:path h="4114800" w="3847338">
                <a:moveTo>
                  <a:pt x="0" y="0"/>
                </a:moveTo>
                <a:lnTo>
                  <a:pt x="3847338" y="0"/>
                </a:lnTo>
                <a:lnTo>
                  <a:pt x="384733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183734" y="-120650"/>
            <a:ext cx="1920533" cy="1908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99"/>
              </a:lnSpc>
              <a:spcBef>
                <a:spcPct val="0"/>
              </a:spcBef>
            </a:pPr>
            <a:r>
              <a:rPr lang="en-US" sz="9999">
                <a:solidFill>
                  <a:srgbClr val="567B2B"/>
                </a:solidFill>
                <a:latin typeface="ดองเต่า"/>
                <a:ea typeface="ดองเต่า"/>
                <a:cs typeface="ดองเต่า"/>
                <a:sym typeface="ดองเต่า"/>
              </a:rPr>
              <a:t>ACV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81AD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89543" y="714519"/>
            <a:ext cx="14908914" cy="8543781"/>
            <a:chOff x="0" y="0"/>
            <a:chExt cx="19878552" cy="11391708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703249"/>
              <a:ext cx="19878552" cy="10688459"/>
              <a:chOff x="0" y="0"/>
              <a:chExt cx="3926628" cy="211130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3926628" cy="2111301"/>
              </a:xfrm>
              <a:custGeom>
                <a:avLst/>
                <a:gdLst/>
                <a:ahLst/>
                <a:cxnLst/>
                <a:rect r="r" b="b" t="t" l="l"/>
                <a:pathLst>
                  <a:path h="2111301" w="3926628">
                    <a:moveTo>
                      <a:pt x="16617" y="0"/>
                    </a:moveTo>
                    <a:lnTo>
                      <a:pt x="3910011" y="0"/>
                    </a:lnTo>
                    <a:cubicBezTo>
                      <a:pt x="3919188" y="0"/>
                      <a:pt x="3926628" y="7440"/>
                      <a:pt x="3926628" y="16617"/>
                    </a:cubicBezTo>
                    <a:lnTo>
                      <a:pt x="3926628" y="2094684"/>
                    </a:lnTo>
                    <a:cubicBezTo>
                      <a:pt x="3926628" y="2099091"/>
                      <a:pt x="3924877" y="2103317"/>
                      <a:pt x="3921761" y="2106434"/>
                    </a:cubicBezTo>
                    <a:cubicBezTo>
                      <a:pt x="3918645" y="2109550"/>
                      <a:pt x="3914418" y="2111301"/>
                      <a:pt x="3910011" y="2111301"/>
                    </a:cubicBezTo>
                    <a:lnTo>
                      <a:pt x="16617" y="2111301"/>
                    </a:lnTo>
                    <a:cubicBezTo>
                      <a:pt x="12210" y="2111301"/>
                      <a:pt x="7983" y="2109550"/>
                      <a:pt x="4867" y="2106434"/>
                    </a:cubicBezTo>
                    <a:cubicBezTo>
                      <a:pt x="1751" y="2103317"/>
                      <a:pt x="0" y="2099091"/>
                      <a:pt x="0" y="2094684"/>
                    </a:cubicBezTo>
                    <a:lnTo>
                      <a:pt x="0" y="16617"/>
                    </a:lnTo>
                    <a:cubicBezTo>
                      <a:pt x="0" y="12210"/>
                      <a:pt x="1751" y="7983"/>
                      <a:pt x="4867" y="4867"/>
                    </a:cubicBezTo>
                    <a:cubicBezTo>
                      <a:pt x="7983" y="1751"/>
                      <a:pt x="12210" y="0"/>
                      <a:pt x="16617" y="0"/>
                    </a:cubicBezTo>
                    <a:close/>
                  </a:path>
                </a:pathLst>
              </a:custGeom>
              <a:solidFill>
                <a:srgbClr val="F8FAED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3926628" cy="214940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6" id="6"/>
            <p:cNvSpPr/>
            <p:nvPr/>
          </p:nvSpPr>
          <p:spPr>
            <a:xfrm flipH="false" flipV="false" rot="5400000">
              <a:off x="283328" y="429314"/>
              <a:ext cx="1610129" cy="751501"/>
            </a:xfrm>
            <a:custGeom>
              <a:avLst/>
              <a:gdLst/>
              <a:ahLst/>
              <a:cxnLst/>
              <a:rect r="r" b="b" t="t" l="l"/>
              <a:pathLst>
                <a:path h="751501" w="1610129">
                  <a:moveTo>
                    <a:pt x="0" y="0"/>
                  </a:moveTo>
                  <a:lnTo>
                    <a:pt x="1610129" y="0"/>
                  </a:lnTo>
                  <a:lnTo>
                    <a:pt x="1610129" y="751501"/>
                  </a:lnTo>
                  <a:lnTo>
                    <a:pt x="0" y="7515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-160783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5400000">
              <a:off x="18147995" y="429314"/>
              <a:ext cx="1610129" cy="751501"/>
            </a:xfrm>
            <a:custGeom>
              <a:avLst/>
              <a:gdLst/>
              <a:ahLst/>
              <a:cxnLst/>
              <a:rect r="r" b="b" t="t" l="l"/>
              <a:pathLst>
                <a:path h="751501" w="1610129">
                  <a:moveTo>
                    <a:pt x="0" y="0"/>
                  </a:moveTo>
                  <a:lnTo>
                    <a:pt x="1610128" y="0"/>
                  </a:lnTo>
                  <a:lnTo>
                    <a:pt x="1610128" y="751501"/>
                  </a:lnTo>
                  <a:lnTo>
                    <a:pt x="0" y="7515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-160783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5400000">
              <a:off x="9215661" y="429314"/>
              <a:ext cx="1610129" cy="751501"/>
            </a:xfrm>
            <a:custGeom>
              <a:avLst/>
              <a:gdLst/>
              <a:ahLst/>
              <a:cxnLst/>
              <a:rect r="r" b="b" t="t" l="l"/>
              <a:pathLst>
                <a:path h="751501" w="1610129">
                  <a:moveTo>
                    <a:pt x="0" y="0"/>
                  </a:moveTo>
                  <a:lnTo>
                    <a:pt x="1610129" y="0"/>
                  </a:lnTo>
                  <a:lnTo>
                    <a:pt x="1610129" y="751501"/>
                  </a:lnTo>
                  <a:lnTo>
                    <a:pt x="0" y="7515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-160783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5400000">
              <a:off x="4749495" y="429314"/>
              <a:ext cx="1610129" cy="751501"/>
            </a:xfrm>
            <a:custGeom>
              <a:avLst/>
              <a:gdLst/>
              <a:ahLst/>
              <a:cxnLst/>
              <a:rect r="r" b="b" t="t" l="l"/>
              <a:pathLst>
                <a:path h="751501" w="1610129">
                  <a:moveTo>
                    <a:pt x="0" y="0"/>
                  </a:moveTo>
                  <a:lnTo>
                    <a:pt x="1610128" y="0"/>
                  </a:lnTo>
                  <a:lnTo>
                    <a:pt x="1610128" y="751501"/>
                  </a:lnTo>
                  <a:lnTo>
                    <a:pt x="0" y="7515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-160783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5400000">
              <a:off x="1772050" y="429314"/>
              <a:ext cx="1610129" cy="751501"/>
            </a:xfrm>
            <a:custGeom>
              <a:avLst/>
              <a:gdLst/>
              <a:ahLst/>
              <a:cxnLst/>
              <a:rect r="r" b="b" t="t" l="l"/>
              <a:pathLst>
                <a:path h="751501" w="1610129">
                  <a:moveTo>
                    <a:pt x="0" y="0"/>
                  </a:moveTo>
                  <a:lnTo>
                    <a:pt x="1610129" y="0"/>
                  </a:lnTo>
                  <a:lnTo>
                    <a:pt x="1610129" y="751501"/>
                  </a:lnTo>
                  <a:lnTo>
                    <a:pt x="0" y="7515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-160783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5400000">
              <a:off x="3260773" y="429314"/>
              <a:ext cx="1610129" cy="751501"/>
            </a:xfrm>
            <a:custGeom>
              <a:avLst/>
              <a:gdLst/>
              <a:ahLst/>
              <a:cxnLst/>
              <a:rect r="r" b="b" t="t" l="l"/>
              <a:pathLst>
                <a:path h="751501" w="1610129">
                  <a:moveTo>
                    <a:pt x="0" y="0"/>
                  </a:moveTo>
                  <a:lnTo>
                    <a:pt x="1610128" y="0"/>
                  </a:lnTo>
                  <a:lnTo>
                    <a:pt x="1610128" y="751501"/>
                  </a:lnTo>
                  <a:lnTo>
                    <a:pt x="0" y="7515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-1607830" r="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5400000">
              <a:off x="6238217" y="429314"/>
              <a:ext cx="1610129" cy="751501"/>
            </a:xfrm>
            <a:custGeom>
              <a:avLst/>
              <a:gdLst/>
              <a:ahLst/>
              <a:cxnLst/>
              <a:rect r="r" b="b" t="t" l="l"/>
              <a:pathLst>
                <a:path h="751501" w="1610129">
                  <a:moveTo>
                    <a:pt x="0" y="0"/>
                  </a:moveTo>
                  <a:lnTo>
                    <a:pt x="1610129" y="0"/>
                  </a:lnTo>
                  <a:lnTo>
                    <a:pt x="1610129" y="751501"/>
                  </a:lnTo>
                  <a:lnTo>
                    <a:pt x="0" y="7515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-160783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5400000">
              <a:off x="7726939" y="429314"/>
              <a:ext cx="1610129" cy="751501"/>
            </a:xfrm>
            <a:custGeom>
              <a:avLst/>
              <a:gdLst/>
              <a:ahLst/>
              <a:cxnLst/>
              <a:rect r="r" b="b" t="t" l="l"/>
              <a:pathLst>
                <a:path h="751501" w="1610129">
                  <a:moveTo>
                    <a:pt x="0" y="0"/>
                  </a:moveTo>
                  <a:lnTo>
                    <a:pt x="1610129" y="0"/>
                  </a:lnTo>
                  <a:lnTo>
                    <a:pt x="1610129" y="751501"/>
                  </a:lnTo>
                  <a:lnTo>
                    <a:pt x="0" y="7515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-160783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5400000">
              <a:off x="10704384" y="429314"/>
              <a:ext cx="1610129" cy="751501"/>
            </a:xfrm>
            <a:custGeom>
              <a:avLst/>
              <a:gdLst/>
              <a:ahLst/>
              <a:cxnLst/>
              <a:rect r="r" b="b" t="t" l="l"/>
              <a:pathLst>
                <a:path h="751501" w="1610129">
                  <a:moveTo>
                    <a:pt x="0" y="0"/>
                  </a:moveTo>
                  <a:lnTo>
                    <a:pt x="1610128" y="0"/>
                  </a:lnTo>
                  <a:lnTo>
                    <a:pt x="1610128" y="751501"/>
                  </a:lnTo>
                  <a:lnTo>
                    <a:pt x="0" y="7515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-160783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5400000">
              <a:off x="12193106" y="429314"/>
              <a:ext cx="1610129" cy="751501"/>
            </a:xfrm>
            <a:custGeom>
              <a:avLst/>
              <a:gdLst/>
              <a:ahLst/>
              <a:cxnLst/>
              <a:rect r="r" b="b" t="t" l="l"/>
              <a:pathLst>
                <a:path h="751501" w="1610129">
                  <a:moveTo>
                    <a:pt x="0" y="0"/>
                  </a:moveTo>
                  <a:lnTo>
                    <a:pt x="1610129" y="0"/>
                  </a:lnTo>
                  <a:lnTo>
                    <a:pt x="1610129" y="751501"/>
                  </a:lnTo>
                  <a:lnTo>
                    <a:pt x="0" y="7515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-160783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5400000">
              <a:off x="13681828" y="429314"/>
              <a:ext cx="1610129" cy="751501"/>
            </a:xfrm>
            <a:custGeom>
              <a:avLst/>
              <a:gdLst/>
              <a:ahLst/>
              <a:cxnLst/>
              <a:rect r="r" b="b" t="t" l="l"/>
              <a:pathLst>
                <a:path h="751501" w="1610129">
                  <a:moveTo>
                    <a:pt x="0" y="0"/>
                  </a:moveTo>
                  <a:lnTo>
                    <a:pt x="1610129" y="0"/>
                  </a:lnTo>
                  <a:lnTo>
                    <a:pt x="1610129" y="751501"/>
                  </a:lnTo>
                  <a:lnTo>
                    <a:pt x="0" y="7515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-160783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5400000">
              <a:off x="15170550" y="429314"/>
              <a:ext cx="1610129" cy="751501"/>
            </a:xfrm>
            <a:custGeom>
              <a:avLst/>
              <a:gdLst/>
              <a:ahLst/>
              <a:cxnLst/>
              <a:rect r="r" b="b" t="t" l="l"/>
              <a:pathLst>
                <a:path h="751501" w="1610129">
                  <a:moveTo>
                    <a:pt x="0" y="0"/>
                  </a:moveTo>
                  <a:lnTo>
                    <a:pt x="1610129" y="0"/>
                  </a:lnTo>
                  <a:lnTo>
                    <a:pt x="1610129" y="751501"/>
                  </a:lnTo>
                  <a:lnTo>
                    <a:pt x="0" y="7515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-1607830" r="0" b="0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false" flipV="false" rot="5400000">
              <a:off x="16659273" y="429314"/>
              <a:ext cx="1610129" cy="751501"/>
            </a:xfrm>
            <a:custGeom>
              <a:avLst/>
              <a:gdLst/>
              <a:ahLst/>
              <a:cxnLst/>
              <a:rect r="r" b="b" t="t" l="l"/>
              <a:pathLst>
                <a:path h="751501" w="1610129">
                  <a:moveTo>
                    <a:pt x="0" y="0"/>
                  </a:moveTo>
                  <a:lnTo>
                    <a:pt x="1610128" y="0"/>
                  </a:lnTo>
                  <a:lnTo>
                    <a:pt x="1610128" y="751501"/>
                  </a:lnTo>
                  <a:lnTo>
                    <a:pt x="0" y="7515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-1607830" r="0" b="0"/>
              </a:stretch>
            </a:blipFill>
          </p:spPr>
        </p:sp>
      </p:grpSp>
      <p:sp>
        <p:nvSpPr>
          <p:cNvPr name="Freeform 19" id="19"/>
          <p:cNvSpPr/>
          <p:nvPr/>
        </p:nvSpPr>
        <p:spPr>
          <a:xfrm flipH="false" flipV="false" rot="0">
            <a:off x="482006" y="2899163"/>
            <a:ext cx="3752966" cy="3288313"/>
          </a:xfrm>
          <a:custGeom>
            <a:avLst/>
            <a:gdLst/>
            <a:ahLst/>
            <a:cxnLst/>
            <a:rect r="r" b="b" t="t" l="l"/>
            <a:pathLst>
              <a:path h="3288313" w="3752966">
                <a:moveTo>
                  <a:pt x="0" y="0"/>
                </a:moveTo>
                <a:lnTo>
                  <a:pt x="3752966" y="0"/>
                </a:lnTo>
                <a:lnTo>
                  <a:pt x="3752966" y="3288312"/>
                </a:lnTo>
                <a:lnTo>
                  <a:pt x="0" y="32883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0" id="20"/>
          <p:cNvSpPr/>
          <p:nvPr/>
        </p:nvSpPr>
        <p:spPr>
          <a:xfrm flipH="false" flipV="false" rot="758024">
            <a:off x="15006044" y="6457575"/>
            <a:ext cx="2830518" cy="3258150"/>
          </a:xfrm>
          <a:custGeom>
            <a:avLst/>
            <a:gdLst/>
            <a:ahLst/>
            <a:cxnLst/>
            <a:rect r="r" b="b" t="t" l="l"/>
            <a:pathLst>
              <a:path h="3258150" w="2830518">
                <a:moveTo>
                  <a:pt x="0" y="0"/>
                </a:moveTo>
                <a:lnTo>
                  <a:pt x="2830518" y="0"/>
                </a:lnTo>
                <a:lnTo>
                  <a:pt x="2830518" y="3258150"/>
                </a:lnTo>
                <a:lnTo>
                  <a:pt x="0" y="32581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4650206" y="4280077"/>
            <a:ext cx="8987589" cy="3551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09"/>
              </a:lnSpc>
            </a:pPr>
            <a:r>
              <a:rPr lang="en-US" sz="12999">
                <a:solidFill>
                  <a:srgbClr val="567B2B"/>
                </a:solidFill>
                <a:latin typeface="ดองเต่า"/>
                <a:ea typeface="ดองเต่า"/>
                <a:cs typeface="ดองเต่า"/>
                <a:sym typeface="ดองเต่า"/>
              </a:rPr>
              <a:t>¡GRACIAS POR LA ATENCIÓN!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353740" y="2499918"/>
            <a:ext cx="11580519" cy="1024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59"/>
              </a:lnSpc>
              <a:spcBef>
                <a:spcPct val="0"/>
              </a:spcBef>
            </a:pPr>
            <a:r>
              <a:rPr lang="en-US" sz="5399">
                <a:solidFill>
                  <a:srgbClr val="000000"/>
                </a:solidFill>
                <a:latin typeface="ดองเต่า"/>
                <a:ea typeface="ดองเต่า"/>
                <a:cs typeface="ดองเต่า"/>
                <a:sym typeface="ดองเต่า"/>
              </a:rPr>
              <a:t>Asociación Borcelle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DAHWwNaXWL8</dc:identifier>
  <dcterms:modified xsi:type="dcterms:W3CDTF">2011-08-01T06:04:30Z</dcterms:modified>
  <cp:revision>1</cp:revision>
  <dc:title>Sostenibilidad</dc:title>
</cp:coreProperties>
</file>